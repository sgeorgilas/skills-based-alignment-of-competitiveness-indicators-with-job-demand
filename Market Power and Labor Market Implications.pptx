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74" r:id="rId4"/>
    <p:sldId id="276" r:id="rId5"/>
    <p:sldId id="258" r:id="rId6"/>
    <p:sldId id="275" r:id="rId7"/>
    <p:sldId id="277" r:id="rId8"/>
    <p:sldId id="278" r:id="rId9"/>
    <p:sldId id="279" r:id="rId10"/>
    <p:sldId id="280" r:id="rId11"/>
    <p:sldId id="281" r:id="rId12"/>
    <p:sldId id="283" r:id="rId13"/>
    <p:sldId id="285" r:id="rId14"/>
    <p:sldId id="286" r:id="rId15"/>
    <p:sldId id="287" r:id="rId16"/>
    <p:sldId id="288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90" r:id="rId27"/>
    <p:sldId id="291" r:id="rId28"/>
    <p:sldId id="292" r:id="rId29"/>
    <p:sldId id="293" r:id="rId30"/>
    <p:sldId id="270" r:id="rId31"/>
    <p:sldId id="271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272" r:id="rId40"/>
    <p:sldId id="301" r:id="rId41"/>
    <p:sldId id="27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155"/>
    <a:srgbClr val="448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78221" autoAdjust="0"/>
  </p:normalViewPr>
  <p:slideViewPr>
    <p:cSldViewPr snapToGrid="0">
      <p:cViewPr varScale="1">
        <p:scale>
          <a:sx n="126" d="100"/>
          <a:sy n="126" d="100"/>
        </p:scale>
        <p:origin x="166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jpg"/><Relationship Id="rId2" Type="http://schemas.microsoft.com/office/2011/relationships/chartColorStyle" Target="colors1.xml"/><Relationship Id="rId1" Type="http://schemas.microsoft.com/office/2011/relationships/chartStyle" Target="style1.xml"/><Relationship Id="rId6" Type="http://schemas.openxmlformats.org/officeDocument/2006/relationships/image" Target="../media/image10.png"/><Relationship Id="rId11" Type="http://schemas.openxmlformats.org/officeDocument/2006/relationships/package" Target="../embeddings/Microsoft_Excel_Worksheet.xlsx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l-GR" b="1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Αγγελίες κάθε χώρας</a:t>
            </a:r>
            <a:endParaRPr lang="en-US" b="1" baseline="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c:rich>
      </c:tx>
      <c:overlay val="0"/>
      <c:spPr>
        <a:solidFill>
          <a:schemeClr val="dk1"/>
        </a:solidFill>
        <a:ln w="12700" cap="flat" cmpd="sng" algn="ctr">
          <a:solidFill>
            <a:schemeClr val="dk1">
              <a:shade val="50000"/>
            </a:schemeClr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blipFill>
              <a:blip xmlns:r="http://schemas.openxmlformats.org/officeDocument/2006/relationships" r:embed="rId3"/>
              <a:tile tx="0" ty="0" sx="100000" sy="100000" flip="none" algn="tl"/>
            </a:blipFill>
            <a:effectLst>
              <a:outerShdw blurRad="50800" dist="50800" dir="5400000" sx="74000" sy="74000" algn="ctr" rotWithShape="0">
                <a:srgbClr val="000000">
                  <a:alpha val="43137"/>
                </a:srgbClr>
              </a:outerShdw>
            </a:effectLst>
          </c:spPr>
          <c:dPt>
            <c:idx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FC4-4BB6-9568-22A355A6D433}"/>
              </c:ext>
            </c:extLst>
          </c:dPt>
          <c:dPt>
            <c:idx val="1"/>
            <c:bubble3D val="0"/>
            <c:spPr>
              <a:blipFill>
                <a:blip xmlns:r="http://schemas.openxmlformats.org/officeDocument/2006/relationships" r:embed="rId5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3FC4-4BB6-9568-22A355A6D433}"/>
              </c:ext>
            </c:extLst>
          </c:dPt>
          <c:dPt>
            <c:idx val="2"/>
            <c:bubble3D val="0"/>
            <c:spPr>
              <a:blipFill>
                <a:blip xmlns:r="http://schemas.openxmlformats.org/officeDocument/2006/relationships" r:embed="rId6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FC4-4BB6-9568-22A355A6D433}"/>
              </c:ext>
            </c:extLst>
          </c:dPt>
          <c:dPt>
            <c:idx val="3"/>
            <c:bubble3D val="0"/>
            <c:spPr>
              <a:blipFill>
                <a:blip xmlns:r="http://schemas.openxmlformats.org/officeDocument/2006/relationships" r:embed="rId7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3FC4-4BB6-9568-22A355A6D433}"/>
              </c:ext>
            </c:extLst>
          </c:dPt>
          <c:dPt>
            <c:idx val="4"/>
            <c:bubble3D val="0"/>
            <c:spPr>
              <a:blipFill>
                <a:blip xmlns:r="http://schemas.openxmlformats.org/officeDocument/2006/relationships" r:embed="rId8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FC4-4BB6-9568-22A355A6D433}"/>
              </c:ext>
            </c:extLst>
          </c:dPt>
          <c:dPt>
            <c:idx val="5"/>
            <c:bubble3D val="0"/>
            <c:spPr>
              <a:blipFill>
                <a:blip xmlns:r="http://schemas.openxmlformats.org/officeDocument/2006/relationships" r:embed="rId9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3FC4-4BB6-9568-22A355A6D433}"/>
              </c:ext>
            </c:extLst>
          </c:dPt>
          <c:dPt>
            <c:idx val="6"/>
            <c:bubble3D val="0"/>
            <c:spPr>
              <a:blipFill>
                <a:blip xmlns:r="http://schemas.openxmlformats.org/officeDocument/2006/relationships" r:embed="rId10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>
                <a:outerShdw blurRad="50800" dist="50800" dir="5400000" sx="74000" sy="74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3FC4-4BB6-9568-22A355A6D433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Sheet1!$A$2:$A$8</c:f>
              <c:strCache>
                <c:ptCount val="7"/>
                <c:pt idx="0">
                  <c:v>USA</c:v>
                </c:pt>
                <c:pt idx="1">
                  <c:v>UK</c:v>
                </c:pt>
                <c:pt idx="2">
                  <c:v>Germany</c:v>
                </c:pt>
                <c:pt idx="3">
                  <c:v>Italy</c:v>
                </c:pt>
                <c:pt idx="4">
                  <c:v>France</c:v>
                </c:pt>
                <c:pt idx="5">
                  <c:v>Netherlands</c:v>
                </c:pt>
                <c:pt idx="6">
                  <c:v>Sweden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9994</c:v>
                </c:pt>
                <c:pt idx="1">
                  <c:v>5319</c:v>
                </c:pt>
                <c:pt idx="2">
                  <c:v>3616</c:v>
                </c:pt>
                <c:pt idx="3">
                  <c:v>3564</c:v>
                </c:pt>
                <c:pt idx="4">
                  <c:v>3043</c:v>
                </c:pt>
                <c:pt idx="5">
                  <c:v>2702</c:v>
                </c:pt>
                <c:pt idx="6">
                  <c:v>1390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C4-4BB6-9568-22A355A6D4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Competitiveness 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2"/>
            <c:invertIfNegative val="0"/>
            <c:bubble3D val="0"/>
            <c:spPr>
              <a:solidFill>
                <a:srgbClr val="E4E155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D95E-4F0D-8566-A4F64994D647}"/>
              </c:ext>
            </c:extLst>
          </c:dPt>
          <c:dPt>
            <c:idx val="3"/>
            <c:invertIfNegative val="0"/>
            <c:bubble3D val="0"/>
            <c:spPr>
              <a:solidFill>
                <a:srgbClr val="E4E155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6-D95E-4F0D-8566-A4F64994D647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D95E-4F0D-8566-A4F64994D647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D95E-4F0D-8566-A4F64994D647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75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95E-4F0D-8566-A4F64994D6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Tech</c:v>
                </c:pt>
                <c:pt idx="1">
                  <c:v>Finance</c:v>
                </c:pt>
                <c:pt idx="2">
                  <c:v>Consulting</c:v>
                </c:pt>
                <c:pt idx="3">
                  <c:v>Law</c:v>
                </c:pt>
                <c:pt idx="4">
                  <c:v>Healthcare</c:v>
                </c:pt>
                <c:pt idx="5">
                  <c:v>Energy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41.7</c:v>
                </c:pt>
                <c:pt idx="2">
                  <c:v>50</c:v>
                </c:pt>
                <c:pt idx="3">
                  <c:v>58.3</c:v>
                </c:pt>
                <c:pt idx="4">
                  <c:v>75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5E-4F0D-8566-A4F64994D6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28487696"/>
        <c:axId val="1328474800"/>
        <c:axId val="0"/>
      </c:bar3DChart>
      <c:catAx>
        <c:axId val="1328487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474800"/>
        <c:crosses val="autoZero"/>
        <c:auto val="1"/>
        <c:lblAlgn val="ctr"/>
        <c:lblOffset val="100"/>
        <c:noMultiLvlLbl val="0"/>
      </c:catAx>
      <c:valAx>
        <c:axId val="1328474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48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22</c:v>
                </c:pt>
                <c:pt idx="2">
                  <c:v>7</c:v>
                </c:pt>
                <c:pt idx="3">
                  <c:v>6</c:v>
                </c:pt>
                <c:pt idx="4">
                  <c:v>1</c:v>
                </c:pt>
                <c:pt idx="5">
                  <c:v>1</c:v>
                </c:pt>
                <c:pt idx="6">
                  <c:v>5</c:v>
                </c:pt>
                <c:pt idx="7">
                  <c:v>8</c:v>
                </c:pt>
                <c:pt idx="8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18</c:v>
                </c:pt>
                <c:pt idx="2">
                  <c:v>8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9</c:v>
                </c:pt>
                <c:pt idx="8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21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9</c:v>
                </c:pt>
                <c:pt idx="8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17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8</c:v>
                </c:pt>
                <c:pt idx="7">
                  <c:v>9</c:v>
                </c:pt>
                <c:pt idx="8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24</c:v>
                </c:pt>
                <c:pt idx="2">
                  <c:v>6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  <c:pt idx="6">
                  <c:v>4</c:v>
                </c:pt>
                <c:pt idx="7">
                  <c:v>10</c:v>
                </c:pt>
                <c:pt idx="8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Skill</a:t>
            </a:r>
            <a:r>
              <a:rPr lang="en-US" b="1" baseline="0" dirty="0"/>
              <a:t> Type Mix (%)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Agile</c:v>
                </c:pt>
                <c:pt idx="1">
                  <c:v>Analytical</c:v>
                </c:pt>
                <c:pt idx="2">
                  <c:v>Broad-Scope</c:v>
                </c:pt>
                <c:pt idx="3">
                  <c:v>Compliance</c:v>
                </c:pt>
                <c:pt idx="4">
                  <c:v>Investigative</c:v>
                </c:pt>
                <c:pt idx="5">
                  <c:v>Law </c:v>
                </c:pt>
                <c:pt idx="6">
                  <c:v>Legal</c:v>
                </c:pt>
                <c:pt idx="7">
                  <c:v>Policy-Focused</c:v>
                </c:pt>
                <c:pt idx="8">
                  <c:v>Technical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19</c:v>
                </c:pt>
                <c:pt idx="2">
                  <c:v>7</c:v>
                </c:pt>
                <c:pt idx="3">
                  <c:v>3</c:v>
                </c:pt>
                <c:pt idx="4">
                  <c:v>2</c:v>
                </c:pt>
                <c:pt idx="5">
                  <c:v>0.5</c:v>
                </c:pt>
                <c:pt idx="6">
                  <c:v>4</c:v>
                </c:pt>
                <c:pt idx="7">
                  <c:v>8</c:v>
                </c:pt>
                <c:pt idx="8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0-4C68-A1DB-51112898B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0424656"/>
        <c:axId val="1550426736"/>
      </c:barChart>
      <c:catAx>
        <c:axId val="155042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6736"/>
        <c:crosses val="autoZero"/>
        <c:auto val="1"/>
        <c:lblAlgn val="ctr"/>
        <c:lblOffset val="100"/>
        <c:noMultiLvlLbl val="0"/>
      </c:catAx>
      <c:valAx>
        <c:axId val="15504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42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B92AD-9113-4451-BEC2-028390AD603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93F39-0659-4701-9F22-FC3CF2B29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dirty="0"/>
              <a:t>Καλησπέρα σας,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l-G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dirty="0"/>
              <a:t>Θα σας παρουσιάσω την διπλωματική μου εργασία με τίτλο </a:t>
            </a:r>
            <a:r>
              <a:rPr lang="en-US" dirty="0"/>
              <a:t>market power and labor market implications.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  <a:p>
            <a:r>
              <a:rPr lang="el-GR" dirty="0"/>
              <a:t>Η διπλωματική μου λοιπόν ως θέμα εξετάζει το αν υπάρχει σχέση μεταξύ της δομής της αγοράς εργασίας και των </a:t>
            </a:r>
            <a:r>
              <a:rPr lang="el-GR" dirty="0" err="1"/>
              <a:t>skills</a:t>
            </a:r>
            <a:r>
              <a:rPr lang="el-GR" dirty="0"/>
              <a:t> που ζητούνται στις αγγελίες.</a:t>
            </a:r>
          </a:p>
          <a:p>
            <a:r>
              <a:rPr lang="el-GR" dirty="0"/>
              <a:t>Εστίασα μόνο σε αγγελίες που το </a:t>
            </a:r>
            <a:r>
              <a:rPr lang="el-GR" dirty="0" err="1"/>
              <a:t>linkedin</a:t>
            </a:r>
            <a:r>
              <a:rPr lang="el-GR" dirty="0"/>
              <a:t> θεωρεί σχετικές με οικονομικά εγκλήματα και έρευνες.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6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Τα δεδομένα που χρησιμοποιήθηκαν προέρχονται από 7 χώρες. Ακολούθησα ένα </a:t>
            </a:r>
            <a:r>
              <a:rPr lang="el-GR" dirty="0" err="1"/>
              <a:t>pipeline</a:t>
            </a:r>
            <a:r>
              <a:rPr lang="el-GR" dirty="0"/>
              <a:t>, ξεκινώντας με το </a:t>
            </a:r>
            <a:r>
              <a:rPr lang="el-GR" dirty="0" err="1"/>
              <a:t>scraping</a:t>
            </a:r>
            <a:r>
              <a:rPr lang="el-GR" dirty="0"/>
              <a:t> από το </a:t>
            </a:r>
            <a:r>
              <a:rPr lang="el-GR" dirty="0" err="1"/>
              <a:t>linkedin</a:t>
            </a:r>
            <a:r>
              <a:rPr lang="el-GR" dirty="0"/>
              <a:t>. Μέσω του </a:t>
            </a:r>
            <a:r>
              <a:rPr lang="el-GR" dirty="0" err="1"/>
              <a:t>Apify</a:t>
            </a:r>
            <a:r>
              <a:rPr lang="el-GR" dirty="0"/>
              <a:t>, χρησιμοποίησα έναν </a:t>
            </a:r>
            <a:r>
              <a:rPr lang="el-GR" dirty="0" err="1"/>
              <a:t>scraping</a:t>
            </a:r>
            <a:r>
              <a:rPr lang="el-GR" dirty="0"/>
              <a:t> </a:t>
            </a:r>
            <a:r>
              <a:rPr lang="el-GR" dirty="0" err="1"/>
              <a:t>actor</a:t>
            </a:r>
            <a:r>
              <a:rPr lang="el-GR" dirty="0"/>
              <a:t> όπου δίνοντας του </a:t>
            </a:r>
            <a:r>
              <a:rPr lang="el-GR" dirty="0" err="1"/>
              <a:t>prompts</a:t>
            </a:r>
            <a:r>
              <a:rPr lang="el-GR" dirty="0"/>
              <a:t> και </a:t>
            </a:r>
            <a:r>
              <a:rPr lang="el-GR" dirty="0" err="1"/>
              <a:t>keywords</a:t>
            </a:r>
            <a:r>
              <a:rPr lang="el-GR" dirty="0"/>
              <a:t>, επέστρεφε τα </a:t>
            </a:r>
            <a:r>
              <a:rPr lang="el-GR" dirty="0" err="1"/>
              <a:t>datasets</a:t>
            </a:r>
            <a:r>
              <a:rPr lang="el-GR" dirty="0"/>
              <a:t> σε </a:t>
            </a:r>
            <a:r>
              <a:rPr lang="el-GR" dirty="0" err="1"/>
              <a:t>CSVs</a:t>
            </a:r>
            <a:r>
              <a:rPr lang="el-GR" dirty="0"/>
              <a:t>. Τα αρχικά </a:t>
            </a:r>
            <a:r>
              <a:rPr lang="el-GR" dirty="0" err="1"/>
              <a:t>datasets</a:t>
            </a:r>
            <a:r>
              <a:rPr lang="el-GR" dirty="0"/>
              <a:t> είχαν αρκετά πεδία, αλλά κράτησα μόνο τα σημαντικά, όπως το όνομα ,η περιγραφή και το </a:t>
            </a:r>
            <a:r>
              <a:rPr lang="el-GR" dirty="0" err="1"/>
              <a:t>industry</a:t>
            </a:r>
            <a:r>
              <a:rPr lang="el-GR" dirty="0"/>
              <a:t> της εταιρίας, το </a:t>
            </a:r>
            <a:r>
              <a:rPr lang="el-GR" dirty="0" err="1"/>
              <a:t>id</a:t>
            </a:r>
            <a:r>
              <a:rPr lang="el-GR" dirty="0"/>
              <a:t> της αγγελίας και η περιγραφή της αγγελίας.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34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Στη συνέχεια προχώρησα σε αφαίρεση τυχών διπλότυπων εγγραφών που υπήρχαν στα διαφορετικά </a:t>
            </a:r>
            <a:r>
              <a:rPr lang="el-GR" dirty="0" err="1"/>
              <a:t>datasets</a:t>
            </a:r>
            <a:r>
              <a:rPr lang="el-GR" dirty="0"/>
              <a:t>, με βάση το </a:t>
            </a:r>
            <a:r>
              <a:rPr lang="el-GR" dirty="0" err="1"/>
              <a:t>job</a:t>
            </a:r>
            <a:r>
              <a:rPr lang="el-GR" dirty="0"/>
              <a:t> </a:t>
            </a:r>
            <a:r>
              <a:rPr lang="el-GR" dirty="0" err="1"/>
              <a:t>identifier</a:t>
            </a:r>
            <a:r>
              <a:rPr lang="el-GR" dirty="0"/>
              <a:t> που είχαν από το </a:t>
            </a:r>
            <a:r>
              <a:rPr lang="el-GR" dirty="0" err="1"/>
              <a:t>linkedin</a:t>
            </a:r>
            <a:r>
              <a:rPr lang="el-GR" dirty="0"/>
              <a:t>. Επίσης, χρειάστηκε να γίνει μετάφραση αγγελιών μέσω κώδικα, καθώς έκανα </a:t>
            </a:r>
            <a:r>
              <a:rPr lang="el-GR" dirty="0" err="1"/>
              <a:t>scrape</a:t>
            </a:r>
            <a:r>
              <a:rPr lang="el-GR" dirty="0"/>
              <a:t> </a:t>
            </a:r>
            <a:r>
              <a:rPr lang="el-GR" dirty="0" err="1"/>
              <a:t>data</a:t>
            </a:r>
            <a:r>
              <a:rPr lang="el-GR" dirty="0"/>
              <a:t> από χώρες εκτός USA και UK, έτσι ώστε να είναι όλα τα δεδομένα σε μία κοινή γλώσσα. Τέλος, μετέτρεψα όλες τις περιγραφές σε </a:t>
            </a:r>
            <a:r>
              <a:rPr lang="el-GR" dirty="0" err="1"/>
              <a:t>lowercase</a:t>
            </a:r>
            <a:r>
              <a:rPr lang="el-GR" dirty="0"/>
              <a:t>, και αφαίρεσα ότι </a:t>
            </a:r>
            <a:r>
              <a:rPr lang="el-GR" dirty="0" err="1"/>
              <a:t>special</a:t>
            </a:r>
            <a:r>
              <a:rPr lang="el-GR" dirty="0"/>
              <a:t> χαρακτήρες και </a:t>
            </a:r>
            <a:r>
              <a:rPr lang="el-GR" dirty="0" err="1"/>
              <a:t>emoji</a:t>
            </a:r>
            <a:r>
              <a:rPr lang="el-GR" dirty="0"/>
              <a:t> έβρισκα μέσα στα κείμενα.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07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Κατέληξα λοιπόν με ένα </a:t>
            </a:r>
            <a:r>
              <a:rPr lang="el-GR" dirty="0" err="1"/>
              <a:t>dataset</a:t>
            </a:r>
            <a:r>
              <a:rPr lang="el-GR" dirty="0"/>
              <a:t> περίπου 30 χιλιάδων εγγραφών. Στο σχήμα βλέπουμε την κατανομή των αγγελιών με βάση την χώρα από την οποία προήλθαν. Βλέπουμε πως </a:t>
            </a:r>
            <a:r>
              <a:rPr lang="el-GR" dirty="0" err="1"/>
              <a:t>καποιες</a:t>
            </a:r>
            <a:r>
              <a:rPr lang="el-GR" dirty="0"/>
              <a:t> </a:t>
            </a:r>
            <a:r>
              <a:rPr lang="el-GR" dirty="0" err="1"/>
              <a:t>χωρες</a:t>
            </a:r>
            <a:r>
              <a:rPr lang="el-GR" dirty="0"/>
              <a:t> </a:t>
            </a:r>
            <a:r>
              <a:rPr lang="el-GR" dirty="0" err="1"/>
              <a:t>εχουν</a:t>
            </a:r>
            <a:r>
              <a:rPr lang="el-GR" dirty="0"/>
              <a:t> </a:t>
            </a:r>
            <a:r>
              <a:rPr lang="el-GR" dirty="0" err="1"/>
              <a:t>περισσοτερα</a:t>
            </a:r>
            <a:r>
              <a:rPr lang="el-GR" dirty="0"/>
              <a:t> </a:t>
            </a:r>
            <a:r>
              <a:rPr lang="el-GR" dirty="0" err="1"/>
              <a:t>data</a:t>
            </a:r>
            <a:r>
              <a:rPr lang="el-GR" dirty="0"/>
              <a:t> από άλλες, και σε αυτό </a:t>
            </a:r>
            <a:r>
              <a:rPr lang="el-GR" dirty="0" err="1"/>
              <a:t>φταιει</a:t>
            </a:r>
            <a:r>
              <a:rPr lang="el-GR" dirty="0"/>
              <a:t> ότι οι </a:t>
            </a:r>
            <a:r>
              <a:rPr lang="el-GR" dirty="0" err="1"/>
              <a:t>αγορες</a:t>
            </a:r>
            <a:r>
              <a:rPr lang="el-GR" dirty="0"/>
              <a:t> </a:t>
            </a:r>
            <a:r>
              <a:rPr lang="el-GR" dirty="0" err="1"/>
              <a:t>εργασιας</a:t>
            </a:r>
            <a:r>
              <a:rPr lang="el-GR" dirty="0"/>
              <a:t> τους </a:t>
            </a:r>
            <a:r>
              <a:rPr lang="el-GR" dirty="0" err="1"/>
              <a:t>εχουν</a:t>
            </a:r>
            <a:r>
              <a:rPr lang="el-GR" dirty="0"/>
              <a:t> άλλες </a:t>
            </a:r>
            <a:r>
              <a:rPr lang="el-GR" dirty="0" err="1"/>
              <a:t>ταξεις</a:t>
            </a:r>
            <a:r>
              <a:rPr lang="el-GR" dirty="0"/>
              <a:t> </a:t>
            </a:r>
            <a:r>
              <a:rPr lang="el-GR" dirty="0" err="1"/>
              <a:t>μεγεθων</a:t>
            </a:r>
            <a:r>
              <a:rPr lang="el-GR" dirty="0"/>
              <a:t>. Επίσης χώρισα τις εταιρίες με βάση τα </a:t>
            </a:r>
            <a:r>
              <a:rPr lang="el-GR" dirty="0" err="1"/>
              <a:t>industries</a:t>
            </a:r>
            <a:r>
              <a:rPr lang="el-GR" dirty="0"/>
              <a:t> τους, σε 6 γενικούς τομείς, σε ενέργεια, υγεία, </a:t>
            </a:r>
            <a:r>
              <a:rPr lang="el-GR" dirty="0" err="1"/>
              <a:t>consulting</a:t>
            </a:r>
            <a:r>
              <a:rPr lang="el-GR" dirty="0"/>
              <a:t>, νομικά, οικονομικά και τεχνολογία.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07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Επόμενο βήμα ήταν η εξαγωγή των </a:t>
            </a:r>
            <a:r>
              <a:rPr lang="el-GR" dirty="0" err="1"/>
              <a:t>skills</a:t>
            </a:r>
            <a:r>
              <a:rPr lang="el-GR" dirty="0"/>
              <a:t> από τις αγγελίες του </a:t>
            </a:r>
            <a:r>
              <a:rPr lang="el-GR" dirty="0" err="1"/>
              <a:t>dataset</a:t>
            </a:r>
            <a:r>
              <a:rPr lang="el-GR" dirty="0"/>
              <a:t>. </a:t>
            </a:r>
            <a:r>
              <a:rPr lang="el-GR" dirty="0" err="1"/>
              <a:t>Χρησιμοποιησα</a:t>
            </a:r>
            <a:r>
              <a:rPr lang="el-GR" dirty="0"/>
              <a:t> escoX, ένα </a:t>
            </a:r>
            <a:r>
              <a:rPr lang="el-GR" dirty="0" err="1"/>
              <a:t>open</a:t>
            </a:r>
            <a:r>
              <a:rPr lang="el-GR" dirty="0"/>
              <a:t> </a:t>
            </a:r>
            <a:r>
              <a:rPr lang="el-GR" dirty="0" err="1"/>
              <a:t>source</a:t>
            </a:r>
            <a:r>
              <a:rPr lang="el-GR" dirty="0"/>
              <a:t> εργαλείο και συγκεκριμένα την </a:t>
            </a:r>
            <a:r>
              <a:rPr lang="el-GR" dirty="0" err="1"/>
              <a:t>βιβλιοθηκη</a:t>
            </a:r>
            <a:r>
              <a:rPr lang="el-GR" dirty="0"/>
              <a:t> </a:t>
            </a:r>
            <a:r>
              <a:rPr lang="el-GR" dirty="0" err="1"/>
              <a:t>esco_skill_extractor</a:t>
            </a:r>
            <a:r>
              <a:rPr lang="el-GR" dirty="0"/>
              <a:t> που την </a:t>
            </a:r>
            <a:r>
              <a:rPr lang="el-GR" dirty="0" err="1"/>
              <a:t>πηρα</a:t>
            </a:r>
            <a:r>
              <a:rPr lang="el-GR" dirty="0"/>
              <a:t> από το </a:t>
            </a:r>
            <a:r>
              <a:rPr lang="el-GR" dirty="0" err="1"/>
              <a:t>repo</a:t>
            </a:r>
            <a:r>
              <a:rPr lang="el-GR" dirty="0"/>
              <a:t> του </a:t>
            </a:r>
            <a:r>
              <a:rPr lang="el-GR" dirty="0" err="1"/>
              <a:t>Κωσταντινου</a:t>
            </a:r>
            <a:r>
              <a:rPr lang="el-GR" dirty="0"/>
              <a:t> </a:t>
            </a:r>
            <a:r>
              <a:rPr lang="el-GR" dirty="0" err="1"/>
              <a:t>Πετρακη</a:t>
            </a:r>
            <a:r>
              <a:rPr lang="el-GR" dirty="0"/>
              <a:t>. Η </a:t>
            </a:r>
            <a:r>
              <a:rPr lang="el-GR" dirty="0" err="1"/>
              <a:t>βιβλιοθηκη</a:t>
            </a:r>
            <a:r>
              <a:rPr lang="el-GR" dirty="0"/>
              <a:t> αυτή </a:t>
            </a:r>
            <a:r>
              <a:rPr lang="el-GR" dirty="0" err="1"/>
              <a:t>αναλυει</a:t>
            </a:r>
            <a:r>
              <a:rPr lang="el-GR" dirty="0"/>
              <a:t> </a:t>
            </a:r>
            <a:r>
              <a:rPr lang="el-GR" dirty="0" err="1"/>
              <a:t>κειμενα</a:t>
            </a:r>
            <a:r>
              <a:rPr lang="el-GR" dirty="0"/>
              <a:t>, όπως είναι οι </a:t>
            </a:r>
            <a:r>
              <a:rPr lang="el-GR" dirty="0" err="1"/>
              <a:t>περιγραφες</a:t>
            </a:r>
            <a:r>
              <a:rPr lang="el-GR" dirty="0"/>
              <a:t> των </a:t>
            </a:r>
            <a:r>
              <a:rPr lang="el-GR" dirty="0" err="1"/>
              <a:t>αγγελιων</a:t>
            </a:r>
            <a:r>
              <a:rPr lang="el-GR" dirty="0"/>
              <a:t>, και </a:t>
            </a:r>
            <a:r>
              <a:rPr lang="el-GR" dirty="0" err="1"/>
              <a:t>εντοπιζει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και </a:t>
            </a:r>
            <a:r>
              <a:rPr lang="el-GR" dirty="0" err="1"/>
              <a:t>occupations</a:t>
            </a:r>
            <a:r>
              <a:rPr lang="el-GR" dirty="0"/>
              <a:t> </a:t>
            </a:r>
            <a:r>
              <a:rPr lang="el-GR" dirty="0" err="1"/>
              <a:t>μεσω</a:t>
            </a:r>
            <a:r>
              <a:rPr lang="el-GR" dirty="0"/>
              <a:t> LLM </a:t>
            </a:r>
            <a:r>
              <a:rPr lang="el-GR" dirty="0" err="1"/>
              <a:t>μοντελων</a:t>
            </a:r>
            <a:r>
              <a:rPr lang="el-GR" dirty="0"/>
              <a:t>. </a:t>
            </a:r>
            <a:r>
              <a:rPr lang="el-GR" dirty="0" err="1"/>
              <a:t>Ετσι</a:t>
            </a:r>
            <a:r>
              <a:rPr lang="el-GR" dirty="0"/>
              <a:t>, κατέληξα στην παραδοχή πως αν τα αποτελέσματα μου ήταν όμοια σημασιολογικά τότε θα ήταν όμοια και οντολογικά.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80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 err="1"/>
              <a:t>Επειτα</a:t>
            </a:r>
            <a:r>
              <a:rPr lang="el-GR" dirty="0"/>
              <a:t>, </a:t>
            </a:r>
            <a:r>
              <a:rPr lang="el-GR" dirty="0" err="1"/>
              <a:t>ομαδοποιησα</a:t>
            </a:r>
            <a:r>
              <a:rPr lang="el-GR" dirty="0"/>
              <a:t> τα </a:t>
            </a:r>
            <a:r>
              <a:rPr lang="el-GR" dirty="0" err="1"/>
              <a:t>skills</a:t>
            </a:r>
            <a:r>
              <a:rPr lang="el-GR" dirty="0"/>
              <a:t> σε </a:t>
            </a:r>
            <a:r>
              <a:rPr lang="el-GR" dirty="0" err="1"/>
              <a:t>κατηγοριες</a:t>
            </a:r>
            <a:r>
              <a:rPr lang="el-GR" dirty="0"/>
              <a:t>, με </a:t>
            </a:r>
            <a:r>
              <a:rPr lang="el-GR" dirty="0" err="1"/>
              <a:t>βαση</a:t>
            </a:r>
            <a:r>
              <a:rPr lang="el-GR" dirty="0"/>
              <a:t> την </a:t>
            </a:r>
            <a:r>
              <a:rPr lang="el-GR" dirty="0" err="1"/>
              <a:t>σημασια</a:t>
            </a:r>
            <a:r>
              <a:rPr lang="el-GR" dirty="0"/>
              <a:t> τους. Οι </a:t>
            </a:r>
            <a:r>
              <a:rPr lang="el-GR" dirty="0" err="1"/>
              <a:t>κατηγοριες</a:t>
            </a:r>
            <a:r>
              <a:rPr lang="el-GR" dirty="0"/>
              <a:t> που </a:t>
            </a:r>
            <a:r>
              <a:rPr lang="el-GR" dirty="0" err="1"/>
              <a:t>χρησιμοποιησα</a:t>
            </a:r>
            <a:r>
              <a:rPr lang="el-GR" dirty="0"/>
              <a:t> είναι Technical, </a:t>
            </a:r>
            <a:r>
              <a:rPr lang="el-GR" dirty="0" err="1"/>
              <a:t>Analytical</a:t>
            </a:r>
            <a:r>
              <a:rPr lang="el-GR" dirty="0"/>
              <a:t>, </a:t>
            </a:r>
            <a:r>
              <a:rPr lang="el-GR" dirty="0" err="1"/>
              <a:t>Agile</a:t>
            </a:r>
            <a:r>
              <a:rPr lang="el-GR" dirty="0"/>
              <a:t>, </a:t>
            </a:r>
            <a:r>
              <a:rPr lang="el-GR" dirty="0" err="1"/>
              <a:t>Compliance</a:t>
            </a:r>
            <a:r>
              <a:rPr lang="el-GR" dirty="0"/>
              <a:t>, </a:t>
            </a:r>
            <a:r>
              <a:rPr lang="el-GR" dirty="0" err="1"/>
              <a:t>Broad-Scope</a:t>
            </a:r>
            <a:r>
              <a:rPr lang="el-GR" dirty="0"/>
              <a:t>, </a:t>
            </a:r>
            <a:r>
              <a:rPr lang="el-GR" dirty="0" err="1"/>
              <a:t>Investigative</a:t>
            </a:r>
            <a:r>
              <a:rPr lang="el-GR" dirty="0"/>
              <a:t>, Law και Legal/</a:t>
            </a:r>
            <a:r>
              <a:rPr lang="el-GR" dirty="0" err="1"/>
              <a:t>Regulatory</a:t>
            </a:r>
            <a:r>
              <a:rPr lang="el-GR" dirty="0"/>
              <a:t>, και Policy. Η </a:t>
            </a:r>
            <a:r>
              <a:rPr lang="el-GR" dirty="0" err="1"/>
              <a:t>κατηγοριοποιηση</a:t>
            </a:r>
            <a:r>
              <a:rPr lang="el-GR" dirty="0"/>
              <a:t> </a:t>
            </a:r>
            <a:r>
              <a:rPr lang="el-GR" dirty="0" err="1"/>
              <a:t>εγινε</a:t>
            </a:r>
            <a:r>
              <a:rPr lang="el-GR" dirty="0"/>
              <a:t> με </a:t>
            </a:r>
            <a:r>
              <a:rPr lang="el-GR" dirty="0" err="1"/>
              <a:t>rule-based</a:t>
            </a:r>
            <a:r>
              <a:rPr lang="el-GR" dirty="0"/>
              <a:t> </a:t>
            </a:r>
            <a:r>
              <a:rPr lang="el-GR" dirty="0" err="1"/>
              <a:t>scoring</a:t>
            </a:r>
            <a:r>
              <a:rPr lang="el-GR" dirty="0"/>
              <a:t>. Για κάθε </a:t>
            </a:r>
            <a:r>
              <a:rPr lang="el-GR" dirty="0" err="1"/>
              <a:t>skill</a:t>
            </a:r>
            <a:r>
              <a:rPr lang="el-GR" dirty="0"/>
              <a:t> </a:t>
            </a:r>
            <a:r>
              <a:rPr lang="el-GR" dirty="0" err="1"/>
              <a:t>υπολογιστηκαν</a:t>
            </a:r>
            <a:r>
              <a:rPr lang="el-GR" dirty="0"/>
              <a:t> </a:t>
            </a:r>
            <a:r>
              <a:rPr lang="el-GR" dirty="0" err="1"/>
              <a:t>scores</a:t>
            </a:r>
            <a:r>
              <a:rPr lang="el-GR" dirty="0"/>
              <a:t>, με </a:t>
            </a:r>
            <a:r>
              <a:rPr lang="el-GR" dirty="0" err="1"/>
              <a:t>βαση</a:t>
            </a:r>
            <a:r>
              <a:rPr lang="el-GR" dirty="0"/>
              <a:t> </a:t>
            </a:r>
            <a:r>
              <a:rPr lang="el-GR" dirty="0" err="1"/>
              <a:t>λεξεις</a:t>
            </a:r>
            <a:r>
              <a:rPr lang="el-GR" dirty="0"/>
              <a:t> </a:t>
            </a:r>
            <a:r>
              <a:rPr lang="el-GR" dirty="0" err="1"/>
              <a:t>χαρακτηριστικες</a:t>
            </a:r>
            <a:r>
              <a:rPr lang="el-GR" dirty="0"/>
              <a:t> για κάθε </a:t>
            </a:r>
            <a:r>
              <a:rPr lang="el-GR" dirty="0" err="1"/>
              <a:t>τυπο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 Στο </a:t>
            </a:r>
            <a:r>
              <a:rPr lang="el-GR" dirty="0" err="1"/>
              <a:t>τελος</a:t>
            </a:r>
            <a:r>
              <a:rPr lang="el-GR" dirty="0"/>
              <a:t> </a:t>
            </a:r>
            <a:r>
              <a:rPr lang="el-GR" dirty="0" err="1"/>
              <a:t>εκανα</a:t>
            </a:r>
            <a:r>
              <a:rPr lang="el-GR" dirty="0"/>
              <a:t> </a:t>
            </a:r>
            <a:r>
              <a:rPr lang="el-GR" dirty="0" err="1"/>
              <a:t>ολοκληρωμενο</a:t>
            </a:r>
            <a:r>
              <a:rPr lang="el-GR" dirty="0"/>
              <a:t> </a:t>
            </a:r>
            <a:r>
              <a:rPr lang="el-GR" dirty="0" err="1"/>
              <a:t>ελεγχο</a:t>
            </a:r>
            <a:r>
              <a:rPr lang="el-GR" dirty="0"/>
              <a:t> για να δω ότι τα αποτελέσματα </a:t>
            </a:r>
            <a:r>
              <a:rPr lang="el-GR" dirty="0" err="1"/>
              <a:t>ταιριαζουν</a:t>
            </a:r>
            <a:r>
              <a:rPr lang="el-GR" dirty="0"/>
              <a:t> με την </a:t>
            </a:r>
            <a:r>
              <a:rPr lang="el-GR" dirty="0" err="1"/>
              <a:t>δικια</a:t>
            </a:r>
            <a:r>
              <a:rPr lang="el-GR" dirty="0"/>
              <a:t> μου </a:t>
            </a:r>
            <a:r>
              <a:rPr lang="el-GR" dirty="0" err="1"/>
              <a:t>οπτικη</a:t>
            </a:r>
            <a:r>
              <a:rPr lang="el-GR" dirty="0"/>
              <a:t> και </a:t>
            </a:r>
            <a:r>
              <a:rPr lang="el-GR" dirty="0" err="1"/>
              <a:t>αληθεια</a:t>
            </a:r>
            <a:r>
              <a:rPr lang="el-GR" dirty="0"/>
              <a:t>. </a:t>
            </a:r>
            <a:r>
              <a:rPr lang="el-GR" dirty="0" err="1"/>
              <a:t>Αρκετα</a:t>
            </a:r>
            <a:r>
              <a:rPr lang="el-GR" dirty="0"/>
              <a:t> </a:t>
            </a:r>
            <a:r>
              <a:rPr lang="el-GR" dirty="0" err="1"/>
              <a:t>μπηκαν</a:t>
            </a:r>
            <a:r>
              <a:rPr lang="el-GR" dirty="0"/>
              <a:t> λανθασμένα στο </a:t>
            </a:r>
            <a:r>
              <a:rPr lang="el-GR" dirty="0" err="1"/>
              <a:t>γενικο</a:t>
            </a:r>
            <a:r>
              <a:rPr lang="el-GR" dirty="0"/>
              <a:t> </a:t>
            </a:r>
            <a:r>
              <a:rPr lang="el-GR" dirty="0" err="1"/>
              <a:t>broad-scope</a:t>
            </a:r>
            <a:r>
              <a:rPr lang="el-GR" dirty="0"/>
              <a:t>, </a:t>
            </a:r>
            <a:r>
              <a:rPr lang="el-GR" dirty="0" err="1"/>
              <a:t>οπου</a:t>
            </a:r>
            <a:r>
              <a:rPr lang="el-GR" dirty="0"/>
              <a:t> </a:t>
            </a:r>
            <a:r>
              <a:rPr lang="el-GR" dirty="0" err="1"/>
              <a:t>εκει</a:t>
            </a:r>
            <a:r>
              <a:rPr lang="el-GR" dirty="0"/>
              <a:t> </a:t>
            </a:r>
            <a:r>
              <a:rPr lang="el-GR" dirty="0" err="1"/>
              <a:t>δινοντας</a:t>
            </a:r>
            <a:r>
              <a:rPr lang="el-GR" dirty="0"/>
              <a:t> χειροκίνητους </a:t>
            </a:r>
            <a:r>
              <a:rPr lang="el-GR" dirty="0" err="1"/>
              <a:t>κανονες</a:t>
            </a:r>
            <a:r>
              <a:rPr lang="el-GR" dirty="0"/>
              <a:t>, </a:t>
            </a:r>
            <a:r>
              <a:rPr lang="el-GR" dirty="0" err="1"/>
              <a:t>καταφερα</a:t>
            </a:r>
            <a:r>
              <a:rPr lang="el-GR" dirty="0"/>
              <a:t> να </a:t>
            </a:r>
            <a:r>
              <a:rPr lang="el-GR" dirty="0" err="1"/>
              <a:t>πετυχω</a:t>
            </a:r>
            <a:r>
              <a:rPr lang="el-GR" dirty="0"/>
              <a:t> το </a:t>
            </a:r>
            <a:r>
              <a:rPr lang="el-GR" dirty="0" err="1"/>
              <a:t>τελικο</a:t>
            </a:r>
            <a:r>
              <a:rPr lang="el-GR" dirty="0"/>
              <a:t> αποτέλεσμα.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Προχωράμε στους τρόπους με τους οποίους έκανα ανάλυση των δεδομένων. Ο ένας τρόπος ήταν να ενώσω όλες τις χώρες σε ένα κοινό </a:t>
            </a:r>
            <a:r>
              <a:rPr lang="el-GR" dirty="0" err="1"/>
              <a:t>dataset</a:t>
            </a:r>
            <a:r>
              <a:rPr lang="el-GR" dirty="0"/>
              <a:t>, και η ανάλυση μου να γίνει πάνω στους τομείς ξεχωριστά. </a:t>
            </a:r>
          </a:p>
          <a:p>
            <a:endParaRPr lang="el-G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5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Ενώ ο δεύτερος τρόπος ήταν να κάνω ανάλυση σε κάθε </a:t>
            </a:r>
            <a:r>
              <a:rPr lang="el-GR" dirty="0" err="1"/>
              <a:t>dataset</a:t>
            </a:r>
            <a:r>
              <a:rPr lang="el-GR" dirty="0"/>
              <a:t> ξεχωριστά, πάλι πάνω στους τομείς, έτσι ώστε να μπορέσω να κάνω συγκρίσεις και μεταξύ χωρών.</a:t>
            </a:r>
          </a:p>
          <a:p>
            <a:r>
              <a:rPr lang="el-GR" dirty="0"/>
              <a:t>Και στους 2 τρόπους ανάλυσης έκανα αρχικά </a:t>
            </a:r>
            <a:r>
              <a:rPr lang="el-GR" dirty="0" err="1"/>
              <a:t>focus</a:t>
            </a:r>
            <a:r>
              <a:rPr lang="el-GR" dirty="0"/>
              <a:t> στην συνολική εικόνα, αλλά στη συνέχεια επικεντρώθηκα και στον πυρήνα των τομέων, κοιτώντας τα Top-100 </a:t>
            </a:r>
            <a:r>
              <a:rPr lang="el-GR" dirty="0" err="1"/>
              <a:t>skills</a:t>
            </a:r>
            <a:r>
              <a:rPr lang="el-G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31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Για τις αναλύσεις, χρησιμοποίησα 2 κατηγορίες δεικτών, αυτούς που σχετίζονται με την δομή της αγοράς, και αυτούς που σχετίζονται με την δομή των </a:t>
            </a:r>
            <a:r>
              <a:rPr lang="el-GR" dirty="0" err="1"/>
              <a:t>skills</a:t>
            </a:r>
            <a:r>
              <a:rPr lang="el-G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39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Πρώτος δείκτης που χρησιμοποίησα ήταν ο </a:t>
            </a:r>
            <a:r>
              <a:rPr lang="el-GR" dirty="0" err="1"/>
              <a:t>Χερφινταλ</a:t>
            </a:r>
            <a:r>
              <a:rPr lang="el-GR" dirty="0"/>
              <a:t> </a:t>
            </a:r>
            <a:r>
              <a:rPr lang="el-GR" dirty="0" err="1"/>
              <a:t>Χιρσμαν</a:t>
            </a:r>
            <a:r>
              <a:rPr lang="el-GR" dirty="0"/>
              <a:t> ή αλλιώς HHI. O HHI μετράει πόσο συγκεντρωμένη είναι η αγορά, δηλαδή αν λίγοι εργοδότες κυριαρχούν στις προσλήψεις ή αν η αγορά είναι πιο κατανεμημένη. Όσο μεγαλύτερο μερίδιο έχει μια εταιρεία, τόσο μεγαλύτερη επίδραση έχει στον δείκτη. Αντίστοιχα, όσο μικρότερο είναι το HHI, τόσο πιο ανταγωνιστική είναι η αγορά.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40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Συνδύασα τον HHI με τον CR4. Ο CR4 μετράει το ποσοστό των αγγελιών που έρχονται από τις 4 μεγαλύτερες εταιρίες σε κάθε </a:t>
            </a:r>
            <a:r>
              <a:rPr lang="el-GR" dirty="0" err="1"/>
              <a:t>sector</a:t>
            </a:r>
            <a:r>
              <a:rPr lang="el-GR" dirty="0"/>
              <a:t>. Υψηλό CR4 σημαίνει ότι οι 4 μεγαλύτερες εταιρείες κυριαρχούν στις προσλήψεις ενώ χαμηλό CR4 σημαίνει ότι η αγορά είναι πιο κατανεμημένη σε πολλούς εργοδότες.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23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Για τη δομή των δεξιοτήτων χρησιμοποίησα δείκτες ποικιλίας και ανισότητας. Αρχικά ο Shannon Entropy δείχνει πόσο ομοιόμορφα κατανέμονται τα </a:t>
            </a:r>
            <a:r>
              <a:rPr lang="el-GR" dirty="0" err="1"/>
              <a:t>skill</a:t>
            </a:r>
            <a:r>
              <a:rPr lang="el-GR" dirty="0"/>
              <a:t> </a:t>
            </a:r>
            <a:r>
              <a:rPr lang="el-GR" dirty="0" err="1"/>
              <a:t>categories</a:t>
            </a:r>
            <a:r>
              <a:rPr lang="el-GR" dirty="0"/>
              <a:t> στους </a:t>
            </a:r>
            <a:r>
              <a:rPr lang="el-GR" dirty="0" err="1"/>
              <a:t>sectors</a:t>
            </a:r>
            <a:r>
              <a:rPr lang="el-GR" dirty="0"/>
              <a:t>. Υψηλή εντροπία σημαίνει μεγάλη ποικιλία από κατηγορίες στον </a:t>
            </a:r>
            <a:r>
              <a:rPr lang="el-GR" dirty="0" err="1"/>
              <a:t>sector</a:t>
            </a:r>
            <a:r>
              <a:rPr lang="el-GR" dirty="0"/>
              <a:t>, ενώ μικρή εντροπία σημαίνει πως λίγες κατηγορίες επικρατούν.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41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Κλείνοντας, υπολόγισα Gini </a:t>
            </a:r>
            <a:r>
              <a:rPr lang="el-GR" dirty="0" err="1"/>
              <a:t>Coefficient</a:t>
            </a:r>
            <a:r>
              <a:rPr lang="el-GR" dirty="0"/>
              <a:t>, ώστε να υπολογίσω ανισότητα στις κατανομές. Υψηλό Gini, σημαίνει πως λίγες κατηγορίες επικρατούν, ενώ χαμηλό Gini σημαίνει πως υπάρχει ισορροπία στην ζήτηση.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41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Για να είναι δυνατή η σύγκριση των δεικτών, εφάρμοσα </a:t>
            </a:r>
            <a:r>
              <a:rPr lang="en-US" dirty="0"/>
              <a:t>percentile </a:t>
            </a:r>
            <a:r>
              <a:rPr lang="el-GR" dirty="0" err="1"/>
              <a:t>normalization</a:t>
            </a:r>
            <a:r>
              <a:rPr lang="el-GR" dirty="0"/>
              <a:t>. Στόχος ήταν σε όλους τους δείκτες, μεγαλύτερη τιμή να σημαίνει μεγαλύτερος ανταγωνισμός.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77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Οι κανονικοποιημένοι δείκτες συνδυάστηκαν σε ένα συνολικό </a:t>
            </a:r>
            <a:r>
              <a:rPr lang="el-GR" dirty="0" err="1"/>
              <a:t>score</a:t>
            </a:r>
            <a:r>
              <a:rPr lang="el-GR" dirty="0"/>
              <a:t>. Δεν έβαλα ειδικά βάρη σε κάποιον δείκτη. Με βάση το </a:t>
            </a:r>
            <a:r>
              <a:rPr lang="el-GR" dirty="0" err="1"/>
              <a:t>score</a:t>
            </a:r>
            <a:r>
              <a:rPr lang="el-GR" dirty="0"/>
              <a:t>, κάθε </a:t>
            </a:r>
            <a:r>
              <a:rPr lang="el-GR" dirty="0" err="1"/>
              <a:t>sector</a:t>
            </a:r>
            <a:r>
              <a:rPr lang="el-GR" dirty="0"/>
              <a:t> ορίστηκε ως υψηλά, μέτρια ή χαμηλά ανταγωνιστικός.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30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Έτσι οι τομείς χωρίστηκαν ως εξής. Η ενέργεια και η υγεία ορίστηκαν ως υψηλά ανταγωνιστικοί κλάδοι, ενώ τα νομικά και το </a:t>
            </a:r>
            <a:r>
              <a:rPr lang="el-GR" dirty="0" err="1"/>
              <a:t>consulting</a:t>
            </a:r>
            <a:r>
              <a:rPr lang="el-GR" dirty="0"/>
              <a:t> ως μέτρια ανταγωνιστικοί. Τέλος, ο οικονομικός κλάδος και ο τεχνολογικός ορίστηκαν ως χαμηλής ανταγωνιστικότητας.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44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Στο </a:t>
            </a:r>
            <a:r>
              <a:rPr lang="el-GR" dirty="0" err="1"/>
              <a:t>heatmap</a:t>
            </a:r>
            <a:r>
              <a:rPr lang="el-GR" dirty="0"/>
              <a:t> αυτό βλέπουμε την κατανομή των </a:t>
            </a:r>
            <a:r>
              <a:rPr lang="el-GR" dirty="0" err="1"/>
              <a:t>skills</a:t>
            </a:r>
            <a:r>
              <a:rPr lang="el-GR" dirty="0"/>
              <a:t> στους κλάδους. Βλέπουμε πως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υπερτερούν κατά πολύ σε όλους τους τομείς. Όμως με περισσότερη έρευνα, παρατήρησα πως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κάθε φορά είναι διαφορετικά. Για παράδειγμα στον τεχνολογικό τομέα επικρατούν </a:t>
            </a:r>
            <a:r>
              <a:rPr lang="el-GR" dirty="0" err="1"/>
              <a:t>software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ενώ στον τομέα της ενέργειας επικρατούν </a:t>
            </a:r>
            <a:r>
              <a:rPr lang="el-GR" dirty="0" err="1"/>
              <a:t>operational</a:t>
            </a:r>
            <a:r>
              <a:rPr lang="el-GR" dirty="0"/>
              <a:t> και </a:t>
            </a:r>
            <a:r>
              <a:rPr lang="el-GR" dirty="0" err="1"/>
              <a:t>data</a:t>
            </a:r>
            <a:r>
              <a:rPr lang="el-GR" dirty="0"/>
              <a:t> </a:t>
            </a:r>
            <a:r>
              <a:rPr lang="el-GR" dirty="0" err="1"/>
              <a:t>governance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 Δεύτερη επικρατέστερη κατηγορία είναι τα </a:t>
            </a:r>
            <a:r>
              <a:rPr lang="el-GR" dirty="0" err="1"/>
              <a:t>analytical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με περίπου 18-25% της ζήτησης.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64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Όταν κοιτάζουμε τα </a:t>
            </a:r>
            <a:r>
              <a:rPr lang="el-GR" dirty="0" err="1"/>
              <a:t>cores</a:t>
            </a:r>
            <a:r>
              <a:rPr lang="el-GR" dirty="0"/>
              <a:t>, ο χαρακτήρας κάθε τομέα φαίνεται πιο καθαρά. Στον τεχνολογικό τομέα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φαίνονται πιο έντονα, ενώ στον τομέα του </a:t>
            </a:r>
            <a:r>
              <a:rPr lang="el-GR" dirty="0" err="1"/>
              <a:t>consulting</a:t>
            </a:r>
            <a:r>
              <a:rPr lang="el-GR" dirty="0"/>
              <a:t> και του </a:t>
            </a:r>
            <a:r>
              <a:rPr lang="el-GR" dirty="0" err="1"/>
              <a:t>finance</a:t>
            </a:r>
            <a:r>
              <a:rPr lang="el-GR" dirty="0"/>
              <a:t> αυξάνονται τα </a:t>
            </a:r>
            <a:r>
              <a:rPr lang="el-GR" dirty="0" err="1"/>
              <a:t>analytical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 Στον νομικό τομέα εμφανίζονται πιο έντονα τα </a:t>
            </a:r>
            <a:r>
              <a:rPr lang="el-GR" dirty="0" err="1"/>
              <a:t>legal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 Έτσι, αφαιρώντας τις σπάνιες δεξιότητες, φαίνονται καλύτερα οι βασικές δεξιότητες κάθε τομέα.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87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Προχωράμε σε κάθε τομέα ξεχωριστά. Στον τομέα της ενέργειας βλέπουμε έναν συνδυασμό </a:t>
            </a:r>
            <a:r>
              <a:rPr lang="el-GR" dirty="0" err="1"/>
              <a:t>technical</a:t>
            </a:r>
            <a:r>
              <a:rPr lang="el-GR" dirty="0"/>
              <a:t> και </a:t>
            </a:r>
            <a:r>
              <a:rPr lang="el-GR" dirty="0" err="1"/>
              <a:t>analytical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, με τα </a:t>
            </a:r>
            <a:r>
              <a:rPr lang="el-GR" dirty="0" err="1"/>
              <a:t>policy</a:t>
            </a:r>
            <a:r>
              <a:rPr lang="el-GR" dirty="0"/>
              <a:t> και </a:t>
            </a:r>
            <a:r>
              <a:rPr lang="el-GR" dirty="0" err="1"/>
              <a:t>compliance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να ακολουθούν. Στις πιο συχνές δεξιότητες επικρατούν </a:t>
            </a:r>
            <a:r>
              <a:rPr lang="el-GR" dirty="0" err="1"/>
              <a:t>technical</a:t>
            </a:r>
            <a:r>
              <a:rPr lang="el-GR" dirty="0"/>
              <a:t> και </a:t>
            </a:r>
            <a:r>
              <a:rPr lang="el-GR" dirty="0" err="1"/>
              <a:t>policy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809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Στον τομέα της υγείας, βλέπουμε πως επικρατούν αρκετά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, ενώ μερικά </a:t>
            </a:r>
            <a:r>
              <a:rPr lang="el-GR" dirty="0" err="1"/>
              <a:t>policy</a:t>
            </a:r>
            <a:r>
              <a:rPr lang="el-GR" dirty="0"/>
              <a:t> και </a:t>
            </a:r>
            <a:r>
              <a:rPr lang="el-GR" dirty="0" err="1"/>
              <a:t>compliance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βρίσκονται στην κορυφή της ζήτησης.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72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Στο </a:t>
            </a:r>
            <a:r>
              <a:rPr lang="el-GR" dirty="0" err="1"/>
              <a:t>consulting</a:t>
            </a:r>
            <a:r>
              <a:rPr lang="el-GR" dirty="0"/>
              <a:t>, βλέπουμε </a:t>
            </a:r>
            <a:r>
              <a:rPr lang="el-GR" dirty="0" err="1"/>
              <a:t>skills</a:t>
            </a:r>
            <a:r>
              <a:rPr lang="el-GR" dirty="0"/>
              <a:t> σχετικά με το </a:t>
            </a:r>
            <a:r>
              <a:rPr lang="el-GR" dirty="0" err="1"/>
              <a:t>security</a:t>
            </a:r>
            <a:r>
              <a:rPr lang="el-GR" dirty="0"/>
              <a:t> να επικρατούν, όπως και </a:t>
            </a:r>
            <a:r>
              <a:rPr lang="el-GR" dirty="0" err="1"/>
              <a:t>skills</a:t>
            </a:r>
            <a:r>
              <a:rPr lang="el-GR" dirty="0"/>
              <a:t> σχετικά με </a:t>
            </a:r>
            <a:r>
              <a:rPr lang="el-GR" dirty="0" err="1"/>
              <a:t>documentations</a:t>
            </a:r>
            <a:r>
              <a:rPr lang="el-GR" dirty="0"/>
              <a:t> και επικοινωνία με πελάτες.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6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Στον νομικό τομέα, βλέπουμε πως αυξάνεται το ποσοστό των </a:t>
            </a:r>
            <a:r>
              <a:rPr lang="el-GR" dirty="0" err="1"/>
              <a:t>legal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, ενώ στα κορυφαία </a:t>
            </a:r>
            <a:r>
              <a:rPr lang="el-GR" dirty="0" err="1"/>
              <a:t>skills</a:t>
            </a:r>
            <a:r>
              <a:rPr lang="el-GR" dirty="0"/>
              <a:t> εμφανίζονται </a:t>
            </a:r>
            <a:r>
              <a:rPr lang="el-GR" dirty="0" err="1"/>
              <a:t>investigative</a:t>
            </a:r>
            <a:r>
              <a:rPr lang="el-GR" dirty="0"/>
              <a:t> και </a:t>
            </a:r>
            <a:r>
              <a:rPr lang="el-GR" dirty="0" err="1"/>
              <a:t>legal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Στο </a:t>
            </a:r>
            <a:r>
              <a:rPr lang="en-US" dirty="0"/>
              <a:t>finance, </a:t>
            </a:r>
            <a:r>
              <a:rPr lang="el-GR" dirty="0"/>
              <a:t>βλέπουμε αρκετά </a:t>
            </a:r>
            <a:r>
              <a:rPr lang="en-US" dirty="0"/>
              <a:t>policy </a:t>
            </a:r>
            <a:r>
              <a:rPr lang="el-GR" dirty="0"/>
              <a:t>και </a:t>
            </a:r>
            <a:r>
              <a:rPr lang="en-US" dirty="0"/>
              <a:t>analytical skills </a:t>
            </a:r>
            <a:r>
              <a:rPr lang="el-GR" dirty="0"/>
              <a:t>να βρίσκονται στα κορυφαία </a:t>
            </a:r>
            <a:r>
              <a:rPr lang="en-US" dirty="0"/>
              <a:t>skills, </a:t>
            </a:r>
            <a:r>
              <a:rPr lang="el-GR" dirty="0"/>
              <a:t>όπως η επικοινωνία με </a:t>
            </a:r>
            <a:r>
              <a:rPr lang="en-US" dirty="0"/>
              <a:t>stakeholders, </a:t>
            </a:r>
            <a:r>
              <a:rPr lang="el-GR" dirty="0"/>
              <a:t>και τα </a:t>
            </a:r>
            <a:r>
              <a:rPr lang="en-US" dirty="0"/>
              <a:t>financial audits.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12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Τέλος, στο </a:t>
            </a:r>
            <a:r>
              <a:rPr lang="el-GR" dirty="0" err="1"/>
              <a:t>technology</a:t>
            </a:r>
            <a:r>
              <a:rPr lang="el-GR" dirty="0"/>
              <a:t> βλέπουμε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να αυξάνονται σε ποσοστό, με αρκετά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να εμφανίζονται στα κορυφαία.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559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Τώρα, για να βεβαιωθώ πως τα αποτελέσματα δεν οφείλονται σε τυχαίες παραμέτρους, έκανα μια σειρά από στατιστικούς ελέγχους.</a:t>
            </a:r>
          </a:p>
          <a:p>
            <a:endParaRPr lang="el-GR" dirty="0"/>
          </a:p>
          <a:p>
            <a:r>
              <a:rPr lang="el-GR" dirty="0"/>
              <a:t>Αρχικά έλεγξα αν τα αποτελέσματα αλλάζουν όταν αλλάζει το </a:t>
            </a:r>
            <a:r>
              <a:rPr lang="el-GR" dirty="0" err="1"/>
              <a:t>range</a:t>
            </a:r>
            <a:r>
              <a:rPr lang="el-GR" dirty="0"/>
              <a:t> του πυρήνα. Η ανάλυση επαναλήφθηκε για Top-80 και Top-120. Βασικοί δείκτες δεν είχαν μεγάλες αποκλίσεις, κάτι που δείχνει πως τα αποτελέσματα δεν εξαρτώνται από την επιλογή μου.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68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Στη συνέχεια χρησιμοποίησα bootstrap με επανατοποθέτηση, ώστε να ελέγξω πως επηρεάζονται οι δείκτες σε αλλαγές στο </a:t>
            </a:r>
            <a:r>
              <a:rPr lang="el-GR" dirty="0" err="1"/>
              <a:t>dataset</a:t>
            </a:r>
            <a:r>
              <a:rPr lang="el-GR" dirty="0"/>
              <a:t>. Οι διαφορές παρέμειναν σταθερές, κάτι που δείχνει πως τα αποτελέσματα είναι αξιόπιστα.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49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Στη συνέχεια έκανα χ τετράγωνο έλεγχο ανεξαρτησίας, για να ελέγξω αν η κατανομή των </a:t>
            </a:r>
            <a:r>
              <a:rPr lang="el-GR" dirty="0" err="1"/>
              <a:t>skills</a:t>
            </a:r>
            <a:r>
              <a:rPr lang="el-GR" dirty="0"/>
              <a:t> εξαρτάται από τον τομέα. Τα αποτελέσματα έδειξαν στατιστικά σημαντική σχέση, κάτι που σημαίνει πως οι τομείς έχουν διαφορετικά </a:t>
            </a:r>
            <a:r>
              <a:rPr lang="el-GR" dirty="0" err="1"/>
              <a:t>προφιλ</a:t>
            </a:r>
            <a:r>
              <a:rPr lang="el-GR" dirty="0"/>
              <a:t>. </a:t>
            </a:r>
          </a:p>
          <a:p>
            <a:endParaRPr lang="el-GR" dirty="0"/>
          </a:p>
          <a:p>
            <a:r>
              <a:rPr lang="el-GR" dirty="0"/>
              <a:t>Όταν χρησιμοποιήθηκαν μόνο οι Top-100 δεξιότητες, η σχέση έγινε πιο ισχυρή, καθώς αφαιρέθηκε ο θόρυβος.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5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Για να δω ποιες δεξιότητες εμφανίζονται περισσότερο ή λιγότερο από το αναμενόμενο σε κάθε τομέα, υπολόγισα </a:t>
            </a:r>
            <a:r>
              <a:rPr lang="el-GR" dirty="0" err="1"/>
              <a:t>residuals</a:t>
            </a:r>
            <a:r>
              <a:rPr lang="el-GR" dirty="0"/>
              <a:t>. Αριστερά βλέπουμε το σύνολο και δεξιά τα Top-100. Βλέπουμε πως στο </a:t>
            </a:r>
            <a:r>
              <a:rPr lang="el-GR" dirty="0" err="1"/>
              <a:t>finance</a:t>
            </a:r>
            <a:r>
              <a:rPr lang="el-GR" dirty="0"/>
              <a:t>,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εμφανίζονται πάρα πολύ λιγότερο από όσο αναμενόταν, ενώ αντιθέτως τα </a:t>
            </a:r>
            <a:r>
              <a:rPr lang="el-GR" dirty="0" err="1"/>
              <a:t>analytical</a:t>
            </a:r>
            <a:r>
              <a:rPr lang="el-GR" dirty="0"/>
              <a:t> και </a:t>
            </a:r>
            <a:r>
              <a:rPr lang="el-GR" dirty="0" err="1"/>
              <a:t>investigative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εμφανίζονται περισσότερο. Στο νομικό τομέα, τα </a:t>
            </a:r>
            <a:r>
              <a:rPr lang="el-GR" dirty="0" err="1"/>
              <a:t>legal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εμφανίζονται περισσότερο από το αναμενόμενο, ενώ στο </a:t>
            </a:r>
            <a:r>
              <a:rPr lang="el-GR" dirty="0" err="1"/>
              <a:t>technology</a:t>
            </a:r>
            <a:r>
              <a:rPr lang="el-GR" dirty="0"/>
              <a:t> τα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ξεπερνούν το αναμενόμενο, ειδικά στα Top-100.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1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Τέλος, υπολόγισα </a:t>
            </a:r>
            <a:r>
              <a:rPr lang="el-GR" dirty="0" err="1"/>
              <a:t>spearman</a:t>
            </a:r>
            <a:r>
              <a:rPr lang="el-GR" dirty="0"/>
              <a:t> </a:t>
            </a:r>
            <a:r>
              <a:rPr lang="el-GR" dirty="0" err="1"/>
              <a:t>correlation</a:t>
            </a:r>
            <a:r>
              <a:rPr lang="el-GR" dirty="0"/>
              <a:t> για τον εντοπισμό μοτίβων. Παρατηρούμε πως τα </a:t>
            </a:r>
            <a:r>
              <a:rPr lang="el-GR" dirty="0" err="1"/>
              <a:t>investigative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εμφανίζονται πιο συχνά σε λιγότερο ανταγωνισμό, ενώ τα </a:t>
            </a:r>
            <a:r>
              <a:rPr lang="el-GR" dirty="0" err="1"/>
              <a:t>technical</a:t>
            </a:r>
            <a:r>
              <a:rPr lang="el-GR" dirty="0"/>
              <a:t> και </a:t>
            </a:r>
            <a:r>
              <a:rPr lang="el-GR" dirty="0" err="1"/>
              <a:t>legal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σε περισσότερο ανταγωνισμό.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81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 err="1"/>
              <a:t>Παμε</a:t>
            </a:r>
            <a:r>
              <a:rPr lang="el-GR" dirty="0"/>
              <a:t> </a:t>
            </a:r>
            <a:r>
              <a:rPr lang="el-GR" dirty="0" err="1"/>
              <a:t>τωρα</a:t>
            </a:r>
            <a:r>
              <a:rPr lang="el-GR" dirty="0"/>
              <a:t> στον 2ο </a:t>
            </a:r>
            <a:r>
              <a:rPr lang="el-GR" dirty="0" err="1"/>
              <a:t>τροπο</a:t>
            </a:r>
            <a:r>
              <a:rPr lang="el-GR" dirty="0"/>
              <a:t> </a:t>
            </a:r>
            <a:r>
              <a:rPr lang="el-GR" dirty="0" err="1"/>
              <a:t>αναλυσης</a:t>
            </a:r>
            <a:r>
              <a:rPr lang="el-GR" dirty="0"/>
              <a:t>, με </a:t>
            </a:r>
            <a:r>
              <a:rPr lang="el-GR" dirty="0" err="1"/>
              <a:t>βαση</a:t>
            </a:r>
            <a:r>
              <a:rPr lang="el-GR" dirty="0"/>
              <a:t> την </a:t>
            </a:r>
            <a:r>
              <a:rPr lang="el-GR" dirty="0" err="1"/>
              <a:t>χωρα</a:t>
            </a:r>
            <a:r>
              <a:rPr lang="el-GR" dirty="0"/>
              <a:t>. Ακολουθήσαμε την ίδια μεθοδολογία και παρατηρήσαμε πως οι πιο ανταγωνιστικοί κλάδοι έχουν περισσότερα </a:t>
            </a:r>
            <a:r>
              <a:rPr lang="el-GR" dirty="0" err="1"/>
              <a:t>skills</a:t>
            </a:r>
            <a:r>
              <a:rPr lang="el-GR" dirty="0"/>
              <a:t> στα προφίλ τους σε αντίθεση με τους λιγότερο ανταγωνιστικούς.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157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Στα επόμενα 6 </a:t>
            </a:r>
            <a:r>
              <a:rPr lang="el-GR" dirty="0" err="1"/>
              <a:t>slides</a:t>
            </a:r>
            <a:r>
              <a:rPr lang="el-GR" dirty="0"/>
              <a:t> βλέπουμε τους πυρήνες κάθε χώρας για κάθε κλάδο της και συγκρίνουμε ποσοστά. Βλέπουμε ως </a:t>
            </a:r>
            <a:r>
              <a:rPr lang="el-GR" dirty="0" err="1"/>
              <a:t>pattern</a:t>
            </a:r>
            <a:r>
              <a:rPr lang="el-GR" dirty="0"/>
              <a:t> την Σουηδία να έχει τα μεγαλύτερα ποσοστά </a:t>
            </a:r>
            <a:r>
              <a:rPr lang="el-GR" dirty="0" err="1"/>
              <a:t>technical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 στα </a:t>
            </a:r>
            <a:r>
              <a:rPr lang="el-GR" dirty="0" err="1"/>
              <a:t>cores</a:t>
            </a:r>
            <a:r>
              <a:rPr lang="el-GR" dirty="0"/>
              <a:t> της σε σχέση με άλλες χώρες, και αντίστοιχα την Γερμανία να έχει τα περισσότερα </a:t>
            </a:r>
            <a:r>
              <a:rPr lang="el-GR" dirty="0" err="1"/>
              <a:t>analytical</a:t>
            </a:r>
            <a:r>
              <a:rPr lang="el-GR" dirty="0"/>
              <a:t> </a:t>
            </a:r>
            <a:r>
              <a:rPr lang="el-GR" dirty="0" err="1"/>
              <a:t>skills</a:t>
            </a:r>
            <a:r>
              <a:rPr lang="el-GR" dirty="0"/>
              <a:t>.</a:t>
            </a:r>
          </a:p>
          <a:p>
            <a:endParaRPr lang="el-G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878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Σε αυτό το σημείο συγκρίνουμε την ανταγωνιστικότητα συνολικά και ανά χώρα. Βλέπουμε πως κάποια </a:t>
            </a:r>
            <a:r>
              <a:rPr lang="el-GR" dirty="0" err="1"/>
              <a:t>patterns</a:t>
            </a:r>
            <a:r>
              <a:rPr lang="el-GR" dirty="0"/>
              <a:t> είναι σταθερά και άλλα αλλάζουν σημαντικά.</a:t>
            </a:r>
          </a:p>
          <a:p>
            <a:endParaRPr lang="el-GR" dirty="0"/>
          </a:p>
          <a:p>
            <a:r>
              <a:rPr lang="el-GR" dirty="0"/>
              <a:t>Βλέπουμε πως ο τομέας της υγείας είναι </a:t>
            </a:r>
            <a:r>
              <a:rPr lang="el-GR" dirty="0" err="1"/>
              <a:t>highly</a:t>
            </a:r>
            <a:r>
              <a:rPr lang="el-GR" dirty="0"/>
              <a:t> </a:t>
            </a:r>
            <a:r>
              <a:rPr lang="el-GR" dirty="0" err="1"/>
              <a:t>competitive</a:t>
            </a:r>
            <a:r>
              <a:rPr lang="el-GR" dirty="0"/>
              <a:t> σε όλες τις χώρες, ενώ αντίθετα ο τεχνολογικός τομέας διαφοροποιείται. </a:t>
            </a:r>
          </a:p>
          <a:p>
            <a:r>
              <a:rPr lang="el-GR" dirty="0"/>
              <a:t>Άρα η ανταγωνιστικότητα δεν είναι μόνο χαρακτηριστικό του </a:t>
            </a:r>
            <a:r>
              <a:rPr lang="el-GR" dirty="0" err="1"/>
              <a:t>sector</a:t>
            </a:r>
            <a:r>
              <a:rPr lang="el-GR" dirty="0"/>
              <a:t> αλλά και της χώρας.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943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Σαν </a:t>
            </a:r>
            <a:r>
              <a:rPr lang="el-GR" dirty="0" err="1"/>
              <a:t>future</a:t>
            </a:r>
            <a:r>
              <a:rPr lang="el-GR" dirty="0"/>
              <a:t> </a:t>
            </a:r>
            <a:r>
              <a:rPr lang="el-GR" dirty="0" err="1"/>
              <a:t>work</a:t>
            </a:r>
            <a:r>
              <a:rPr lang="el-GR" dirty="0"/>
              <a:t> θα πρότεινα η ανάλυση να γίνει και πάνω στον χρόνο, σε αντίθεση με το δικό μου </a:t>
            </a:r>
            <a:r>
              <a:rPr lang="el-GR" dirty="0" err="1"/>
              <a:t>snapshot</a:t>
            </a:r>
            <a:r>
              <a:rPr lang="el-GR" dirty="0"/>
              <a:t>. Έτσι θα μπορέσουμε να δούμε ποια </a:t>
            </a:r>
            <a:r>
              <a:rPr lang="el-GR" dirty="0" err="1"/>
              <a:t>skills</a:t>
            </a:r>
            <a:r>
              <a:rPr lang="el-GR" dirty="0"/>
              <a:t> παραμένουν με τον καιρό και θεωρούνται βασικά ενός τομέα, και ποια όχι. Θα μπορούσαμε να ειδικεύσουμε τους </a:t>
            </a:r>
            <a:r>
              <a:rPr lang="el-GR" dirty="0" err="1"/>
              <a:t>sectors</a:t>
            </a:r>
            <a:r>
              <a:rPr lang="el-GR" dirty="0"/>
              <a:t> ώστε να πάρουμε πιο </a:t>
            </a:r>
            <a:r>
              <a:rPr lang="el-GR" dirty="0" err="1"/>
              <a:t>targeted</a:t>
            </a:r>
            <a:r>
              <a:rPr lang="el-GR" dirty="0"/>
              <a:t> </a:t>
            </a:r>
            <a:r>
              <a:rPr lang="el-GR" dirty="0" err="1"/>
              <a:t>insights</a:t>
            </a:r>
            <a:r>
              <a:rPr lang="el-GR" dirty="0"/>
              <a:t>, και φυσικά θα μπορούσαμε να αντλήσουμε δεδομένα και από περισσότερες χώρες.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93F39-0659-4701-9F22-FC3CF2B296A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8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2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5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9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7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3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9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1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9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57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1818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96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18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11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43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6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B1BD1-A604-4AF6-91D9-D01A812EB8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82195-9EA8-4594-B76A-FF491FE24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00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223DA-397F-4961-B4D9-7A4FC24BE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5163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Market Power and Labor Market Implications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1B5FB-6F54-4F85-BE62-668702F61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2763"/>
            <a:ext cx="9144000" cy="436089"/>
          </a:xfrm>
        </p:spPr>
        <p:txBody>
          <a:bodyPr/>
          <a:lstStyle/>
          <a:p>
            <a:r>
              <a:rPr lang="en-US" dirty="0"/>
              <a:t>Skills-Based Alignment of Competitiveness Indicators with Job Demand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1F66B8C-5E83-4C4F-AABE-8DC70F5FCA1B}"/>
              </a:ext>
            </a:extLst>
          </p:cNvPr>
          <p:cNvSpPr txBox="1">
            <a:spLocks/>
          </p:cNvSpPr>
          <p:nvPr/>
        </p:nvSpPr>
        <p:spPr>
          <a:xfrm>
            <a:off x="1524000" y="3862779"/>
            <a:ext cx="9144000" cy="11709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l-GR" b="1" dirty="0"/>
              <a:t>Στυλιανός Γεωργιλάς</a:t>
            </a:r>
            <a:br>
              <a:rPr lang="el-GR" dirty="0"/>
            </a:br>
            <a:r>
              <a:rPr lang="el-GR" dirty="0"/>
              <a:t>Επιβλέπων: Ελευθέριος Αγγελής</a:t>
            </a:r>
            <a:br>
              <a:rPr lang="el-GR" dirty="0"/>
            </a:br>
            <a:r>
              <a:rPr lang="el-GR" dirty="0"/>
              <a:t>ΑΠΘ </a:t>
            </a:r>
            <a:r>
              <a:rPr lang="en-US" dirty="0"/>
              <a:t>-</a:t>
            </a:r>
            <a:r>
              <a:rPr lang="el-GR" dirty="0"/>
              <a:t>Τμήμα Πληροφορικής</a:t>
            </a:r>
            <a:br>
              <a:rPr lang="el-GR"/>
            </a:br>
            <a:r>
              <a:rPr lang="el-GR"/>
              <a:t>Ιούνιος </a:t>
            </a:r>
            <a:r>
              <a:rPr lang="el-GR" dirty="0"/>
              <a:t>2026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A75FE0-47D9-4720-ADEE-9C83C7821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35" y="5152572"/>
            <a:ext cx="1600530" cy="16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0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F87A-BB2B-444B-9186-7424B839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252" y="764373"/>
            <a:ext cx="9148948" cy="1293028"/>
          </a:xfrm>
        </p:spPr>
        <p:txBody>
          <a:bodyPr/>
          <a:lstStyle/>
          <a:p>
            <a:pPr algn="ctr"/>
            <a:r>
              <a:rPr lang="el-GR" b="1" dirty="0" err="1"/>
              <a:t>Κινητρο</a:t>
            </a:r>
            <a:r>
              <a:rPr lang="el-GR" b="1" dirty="0"/>
              <a:t> και </a:t>
            </a:r>
            <a:r>
              <a:rPr lang="el-GR" b="1" dirty="0" err="1"/>
              <a:t>Ερευνητικο</a:t>
            </a:r>
            <a:r>
              <a:rPr lang="el-GR" b="1" dirty="0"/>
              <a:t> </a:t>
            </a:r>
            <a:r>
              <a:rPr lang="el-GR" b="1" dirty="0" err="1"/>
              <a:t>Ερωτημα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A98353-3599-4F45-A843-808CD55D6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22431"/>
            <a:ext cx="784862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Οι αγγελίες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εργ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ασίας αποτυπώνουν πραγματική ζήτηση δεξιοτήτων</a:t>
            </a: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Οι α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γορές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εργ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ασίας διαφέρουν ως προς τη συγκέντρωση εργοδοτών</a:t>
            </a: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C61E8B-2104-458E-9B82-7EFD90403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25897"/>
            <a:ext cx="10511339" cy="92333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Ερευνητικό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ερώτημ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α</a:t>
            </a: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Πώς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σχετίζετ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αι η συγκέντρωση της αγοράς εργασίας με το 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σύνολο δεξιοτήτων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ου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ζητείται ανά κλάδο;</a:t>
            </a:r>
          </a:p>
        </p:txBody>
      </p:sp>
    </p:spTree>
    <p:extLst>
      <p:ext uri="{BB962C8B-B14F-4D97-AF65-F5344CB8AC3E}">
        <p14:creationId xmlns:p14="http://schemas.microsoft.com/office/powerpoint/2010/main" val="197095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D2CA-C505-4ACF-8766-BADD454E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Συλλογη</a:t>
            </a:r>
            <a:r>
              <a:rPr lang="el-GR" b="1" dirty="0"/>
              <a:t> </a:t>
            </a:r>
            <a:r>
              <a:rPr lang="el-GR" b="1" dirty="0" err="1"/>
              <a:t>δεδομενων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E1D6EF-3090-40A3-A854-54DA8BEB5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93" y="2891713"/>
            <a:ext cx="1264648" cy="126464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C7FDE7-A04F-4ADB-81D5-A9AAFC51D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693" y="2891715"/>
            <a:ext cx="1264648" cy="1264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B03629-EDC7-4CD8-BCC1-992D31E9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737" y="2986716"/>
            <a:ext cx="1074643" cy="1074643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C20FF98-100B-4D96-A3F6-EF8822430B92}"/>
              </a:ext>
            </a:extLst>
          </p:cNvPr>
          <p:cNvSpPr/>
          <p:nvPr/>
        </p:nvSpPr>
        <p:spPr>
          <a:xfrm>
            <a:off x="3019605" y="3289501"/>
            <a:ext cx="1846613" cy="46907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8A6ABCD-48C4-4FBB-85F1-76B6C9FED83A}"/>
              </a:ext>
            </a:extLst>
          </p:cNvPr>
          <p:cNvSpPr/>
          <p:nvPr/>
        </p:nvSpPr>
        <p:spPr>
          <a:xfrm>
            <a:off x="6825033" y="3289501"/>
            <a:ext cx="1846613" cy="46907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42B08C-5D2B-44A4-83D7-BD017E88892E}"/>
              </a:ext>
            </a:extLst>
          </p:cNvPr>
          <p:cNvSpPr txBox="1"/>
          <p:nvPr/>
        </p:nvSpPr>
        <p:spPr>
          <a:xfrm>
            <a:off x="1558293" y="4091045"/>
            <a:ext cx="1433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Linkedin</a:t>
            </a:r>
            <a:endParaRPr lang="en-US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7DD6A2-A509-4B6D-AC48-BFADCC79BA54}"/>
              </a:ext>
            </a:extLst>
          </p:cNvPr>
          <p:cNvSpPr txBox="1"/>
          <p:nvPr/>
        </p:nvSpPr>
        <p:spPr>
          <a:xfrm>
            <a:off x="5336871" y="4091045"/>
            <a:ext cx="97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Apify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A4C17-853B-4D2C-8357-1453F64063A1}"/>
              </a:ext>
            </a:extLst>
          </p:cNvPr>
          <p:cNvSpPr txBox="1"/>
          <p:nvPr/>
        </p:nvSpPr>
        <p:spPr>
          <a:xfrm>
            <a:off x="8950904" y="4156363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CSV Files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BA385-3D6B-4059-897F-6E06407AF9D0}"/>
              </a:ext>
            </a:extLst>
          </p:cNvPr>
          <p:cNvSpPr txBox="1"/>
          <p:nvPr/>
        </p:nvSpPr>
        <p:spPr>
          <a:xfrm>
            <a:off x="2991933" y="2879227"/>
            <a:ext cx="1767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Keywords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26992-DD12-4860-8E8B-9D2C9868D862}"/>
              </a:ext>
            </a:extLst>
          </p:cNvPr>
          <p:cNvSpPr txBox="1"/>
          <p:nvPr/>
        </p:nvSpPr>
        <p:spPr>
          <a:xfrm>
            <a:off x="6779816" y="2879228"/>
            <a:ext cx="1767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Scraping</a:t>
            </a:r>
          </a:p>
        </p:txBody>
      </p:sp>
    </p:spTree>
    <p:extLst>
      <p:ext uri="{BB962C8B-B14F-4D97-AF65-F5344CB8AC3E}">
        <p14:creationId xmlns:p14="http://schemas.microsoft.com/office/powerpoint/2010/main" val="196849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0F3B4-38A9-4B60-BC7C-B9DE897D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Προεπεξεργασια</a:t>
            </a:r>
            <a:r>
              <a:rPr lang="el-GR" b="1" dirty="0"/>
              <a:t> </a:t>
            </a:r>
            <a:r>
              <a:rPr lang="el-GR" b="1" dirty="0" err="1"/>
              <a:t>δεδομενων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D348-D469-476E-9BB5-CE25753B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43942"/>
            <a:ext cx="10820400" cy="402412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l-GR" b="1" dirty="0"/>
              <a:t>Αφαίρεση διπλότυπων εγγραφών βάσει </a:t>
            </a:r>
            <a:r>
              <a:rPr lang="en-US" b="1" dirty="0"/>
              <a:t>unique identifier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l-GR" b="1" dirty="0"/>
              <a:t>Μετάφραση αγγελιών από χώρες εκτός </a:t>
            </a:r>
            <a:r>
              <a:rPr lang="en-US" b="1" dirty="0"/>
              <a:t>USA, UK </a:t>
            </a:r>
            <a:r>
              <a:rPr lang="el-GR" b="1" dirty="0"/>
              <a:t>στα Αγγλικά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l-GR" b="1" dirty="0"/>
          </a:p>
          <a:p>
            <a:pPr marL="457200" indent="-457200">
              <a:buFont typeface="+mj-lt"/>
              <a:buAutoNum type="arabicPeriod"/>
            </a:pPr>
            <a:endParaRPr lang="el-GR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Lowercase </a:t>
            </a:r>
            <a:r>
              <a:rPr lang="el-GR" b="1" dirty="0"/>
              <a:t>και αφαίρεση ειδικών χαρακτήρων και </a:t>
            </a:r>
            <a:r>
              <a:rPr lang="en-US" b="1" dirty="0"/>
              <a:t>emojis</a:t>
            </a:r>
          </a:p>
        </p:txBody>
      </p:sp>
    </p:spTree>
    <p:extLst>
      <p:ext uri="{BB962C8B-B14F-4D97-AF65-F5344CB8AC3E}">
        <p14:creationId xmlns:p14="http://schemas.microsoft.com/office/powerpoint/2010/main" val="300135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CA22-1E7B-43C2-A585-5C3E7289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Δεδομενα</a:t>
            </a:r>
            <a:r>
              <a:rPr lang="el-GR" b="1" dirty="0"/>
              <a:t> </a:t>
            </a:r>
            <a:endParaRPr lang="en-US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9987218-2FEE-4B2D-8E38-DD15060B163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5905616"/>
              </p:ext>
            </p:extLst>
          </p:nvPr>
        </p:nvGraphicFramePr>
        <p:xfrm>
          <a:off x="762000" y="2057401"/>
          <a:ext cx="5334000" cy="4356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DD50A-62DC-429E-8AEE-6C3F88743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9100" y="2393375"/>
            <a:ext cx="4313712" cy="368431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Κλάδοι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l-G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Energy &amp; Utilities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⚡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Healthcare &amp; Pharma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baseline="0" dirty="0">
                <a:solidFill>
                  <a:srgbClr val="FFFFFF"/>
                </a:solidFill>
                <a:latin typeface="Arial" panose="020B0604020202020204" pitchFamily="34" charset="0"/>
                <a:ea typeface="Segoe UI"/>
                <a:cs typeface="Arial" panose="020B0604020202020204" pitchFamily="34" charset="0"/>
              </a:rPr>
              <a:t>🧬</a:t>
            </a:r>
            <a:r>
              <a:rPr lang="en-US" sz="2400" dirty="0">
                <a:latin typeface="Arial" panose="020B0604020202020204" pitchFamily="34" charset="0"/>
                <a:ea typeface="Segoe UI"/>
                <a:cs typeface="Arial" panose="020B0604020202020204" pitchFamily="34" charset="0"/>
              </a:rPr>
              <a:t>​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Consulting Services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🧭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Law &amp; Legal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💶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💻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04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D0787-E482-4594-86B5-25306B3E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ΕΞΑΓΩΓΗ ΔΕΞΙΟΤΗΤΩΝ</a:t>
            </a:r>
            <a:endParaRPr lang="en-US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A8DA43-9B62-4725-BFBF-5C7654B48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819" y="2596140"/>
            <a:ext cx="3502010" cy="350201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7EF2A7-571A-453C-B71F-664800133FAD}"/>
              </a:ext>
            </a:extLst>
          </p:cNvPr>
          <p:cNvSpPr txBox="1"/>
          <p:nvPr/>
        </p:nvSpPr>
        <p:spPr>
          <a:xfrm>
            <a:off x="2895600" y="2400308"/>
            <a:ext cx="91560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Βιβλιοθήκη εξαγωγής δεξιοτήτων από κείμενα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Φορτώνει γλωσσικό μοντέλο και συγκρίνει </a:t>
            </a:r>
            <a:r>
              <a:rPr lang="en-US" b="1" dirty="0"/>
              <a:t>embeddings </a:t>
            </a:r>
            <a:r>
              <a:rPr lang="el-GR" b="1" dirty="0"/>
              <a:t>μέσω </a:t>
            </a:r>
            <a:r>
              <a:rPr lang="en-US" b="1" dirty="0"/>
              <a:t>cosine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Όσα αποτελέσματα περνούν το </a:t>
            </a:r>
            <a:r>
              <a:rPr lang="en-US" b="1" dirty="0"/>
              <a:t>threshold</a:t>
            </a:r>
            <a:r>
              <a:rPr lang="el-GR" b="1" dirty="0"/>
              <a:t> επιστρέφουν ως </a:t>
            </a:r>
            <a:r>
              <a:rPr lang="en-US" b="1" dirty="0"/>
              <a:t>matches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 </a:t>
            </a:r>
            <a:r>
              <a:rPr lang="el-GR" b="1" dirty="0"/>
              <a:t>αποτελέσματα είναι στην μορφή </a:t>
            </a:r>
            <a:r>
              <a:rPr lang="en-US" b="1" dirty="0"/>
              <a:t>ESCO URIs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b="1" dirty="0"/>
              <a:t>Στη συνέχεια μέσω </a:t>
            </a:r>
            <a:r>
              <a:rPr lang="en-US" b="1" dirty="0"/>
              <a:t>ESCO Mapping, </a:t>
            </a:r>
            <a:r>
              <a:rPr lang="el-GR" b="1" dirty="0"/>
              <a:t>τα </a:t>
            </a:r>
            <a:r>
              <a:rPr lang="en-US" b="1" dirty="0"/>
              <a:t>URIs </a:t>
            </a:r>
            <a:r>
              <a:rPr lang="el-GR" b="1" dirty="0"/>
              <a:t>έγιναν </a:t>
            </a:r>
            <a:r>
              <a:rPr lang="en-US" b="1" dirty="0"/>
              <a:t>skill labels</a:t>
            </a:r>
          </a:p>
        </p:txBody>
      </p:sp>
    </p:spTree>
    <p:extLst>
      <p:ext uri="{BB962C8B-B14F-4D97-AF65-F5344CB8AC3E}">
        <p14:creationId xmlns:p14="http://schemas.microsoft.com/office/powerpoint/2010/main" val="3920984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4D48-EA8C-4604-A2FD-2ADFCEBF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ΟΜΑΔΟΠΟΙΗΣΗ ΔΕΞΙΟΤΗΤΩΝ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0C8BB-8C74-46B6-B8E7-E1D50A01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3" y="3935883"/>
            <a:ext cx="1065810" cy="3942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SKILLS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39C938-6894-4B28-B859-058F7A98D3E6}"/>
              </a:ext>
            </a:extLst>
          </p:cNvPr>
          <p:cNvGrpSpPr/>
          <p:nvPr/>
        </p:nvGrpSpPr>
        <p:grpSpPr>
          <a:xfrm>
            <a:off x="1873331" y="2112829"/>
            <a:ext cx="3409208" cy="4150426"/>
            <a:chOff x="2247404" y="2118766"/>
            <a:chExt cx="3409208" cy="415042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451CCFE-47E6-4F49-8290-862DAB72381C}"/>
                </a:ext>
              </a:extLst>
            </p:cNvPr>
            <p:cNvGrpSpPr/>
            <p:nvPr/>
          </p:nvGrpSpPr>
          <p:grpSpPr>
            <a:xfrm>
              <a:off x="4190010" y="2118766"/>
              <a:ext cx="1466602" cy="4150426"/>
              <a:chOff x="3414156" y="1989119"/>
              <a:chExt cx="1466602" cy="415042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0D5595-0C0F-4130-8C99-2D59890709FE}"/>
                  </a:ext>
                </a:extLst>
              </p:cNvPr>
              <p:cNvSpPr/>
              <p:nvPr/>
            </p:nvSpPr>
            <p:spPr>
              <a:xfrm>
                <a:off x="3414156" y="2363190"/>
                <a:ext cx="130628" cy="16150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8A9D6A3-C206-40D1-B835-85FA35F7049E}"/>
                  </a:ext>
                </a:extLst>
              </p:cNvPr>
              <p:cNvSpPr/>
              <p:nvPr/>
            </p:nvSpPr>
            <p:spPr>
              <a:xfrm>
                <a:off x="3414156" y="4102925"/>
                <a:ext cx="130628" cy="16150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621812D8-B77A-421E-B3D1-D1CDA78561EE}"/>
                  </a:ext>
                </a:extLst>
              </p:cNvPr>
              <p:cNvSpPr/>
              <p:nvPr/>
            </p:nvSpPr>
            <p:spPr>
              <a:xfrm>
                <a:off x="3544784" y="1989119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41673691-274E-451D-BA40-A61F9B926AF0}"/>
                  </a:ext>
                </a:extLst>
              </p:cNvPr>
              <p:cNvSpPr/>
              <p:nvPr/>
            </p:nvSpPr>
            <p:spPr>
              <a:xfrm>
                <a:off x="3544784" y="5955478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2F3EC1AD-C763-4A6D-9D8B-86C4C3A86FD4}"/>
                  </a:ext>
                </a:extLst>
              </p:cNvPr>
              <p:cNvSpPr/>
              <p:nvPr/>
            </p:nvSpPr>
            <p:spPr>
              <a:xfrm>
                <a:off x="3544784" y="5409211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17E11434-75ED-4794-8DF2-758400246A11}"/>
                  </a:ext>
                </a:extLst>
              </p:cNvPr>
              <p:cNvSpPr/>
              <p:nvPr/>
            </p:nvSpPr>
            <p:spPr>
              <a:xfrm>
                <a:off x="3544784" y="2456819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A16C5263-D997-43D9-AF38-7C43EECF434C}"/>
                  </a:ext>
                </a:extLst>
              </p:cNvPr>
              <p:cNvSpPr/>
              <p:nvPr/>
            </p:nvSpPr>
            <p:spPr>
              <a:xfrm>
                <a:off x="3544784" y="2889571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BB36332F-CAD9-45B0-831B-5B7E6C9D0565}"/>
                  </a:ext>
                </a:extLst>
              </p:cNvPr>
              <p:cNvSpPr/>
              <p:nvPr/>
            </p:nvSpPr>
            <p:spPr>
              <a:xfrm>
                <a:off x="3544784" y="4942420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D8B3A325-8358-486E-8A49-3D3FE985B10A}"/>
                  </a:ext>
                </a:extLst>
              </p:cNvPr>
              <p:cNvSpPr/>
              <p:nvPr/>
            </p:nvSpPr>
            <p:spPr>
              <a:xfrm>
                <a:off x="3544784" y="3420097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048E5466-E772-4E26-A37D-079D49ECC0BB}"/>
                  </a:ext>
                </a:extLst>
              </p:cNvPr>
              <p:cNvSpPr/>
              <p:nvPr/>
            </p:nvSpPr>
            <p:spPr>
              <a:xfrm>
                <a:off x="3544784" y="4417424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91A34C3-8240-4C05-BE85-A4D67E90AEFE}"/>
                  </a:ext>
                </a:extLst>
              </p:cNvPr>
              <p:cNvSpPr/>
              <p:nvPr/>
            </p:nvSpPr>
            <p:spPr>
              <a:xfrm>
                <a:off x="3414156" y="2039586"/>
                <a:ext cx="130628" cy="16150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EBD4355-870C-4BFB-BFE1-47A7231C48F4}"/>
                  </a:ext>
                </a:extLst>
              </p:cNvPr>
              <p:cNvSpPr/>
              <p:nvPr/>
            </p:nvSpPr>
            <p:spPr>
              <a:xfrm>
                <a:off x="3414156" y="4475616"/>
                <a:ext cx="130628" cy="161504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A74D96CA-F6EF-4855-9A97-B6D4BDAEF3AE}"/>
                  </a:ext>
                </a:extLst>
              </p:cNvPr>
              <p:cNvSpPr/>
              <p:nvPr/>
            </p:nvSpPr>
            <p:spPr>
              <a:xfrm>
                <a:off x="3544784" y="3944882"/>
                <a:ext cx="1335974" cy="184067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E7B2549-D722-4744-AC2B-033707DCCC6A}"/>
                </a:ext>
              </a:extLst>
            </p:cNvPr>
            <p:cNvGrpSpPr/>
            <p:nvPr/>
          </p:nvGrpSpPr>
          <p:grpSpPr>
            <a:xfrm>
              <a:off x="2247404" y="3405246"/>
              <a:ext cx="2073234" cy="827326"/>
              <a:chOff x="2207819" y="3429000"/>
              <a:chExt cx="2073234" cy="82732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F3C1FD1-78A2-4A57-AB3F-59BC17136745}"/>
                  </a:ext>
                </a:extLst>
              </p:cNvPr>
              <p:cNvSpPr/>
              <p:nvPr/>
            </p:nvSpPr>
            <p:spPr>
              <a:xfrm>
                <a:off x="3063833" y="4131634"/>
                <a:ext cx="1217220" cy="1246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A10F92-BA6C-4F25-97AF-EE9B033BABA1}"/>
                  </a:ext>
                </a:extLst>
              </p:cNvPr>
              <p:cNvSpPr/>
              <p:nvPr/>
            </p:nvSpPr>
            <p:spPr>
              <a:xfrm>
                <a:off x="2225633" y="4131635"/>
                <a:ext cx="838200" cy="12469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49DD1B-FAE7-4BAE-9251-0FADBD5655FA}"/>
                  </a:ext>
                </a:extLst>
              </p:cNvPr>
              <p:cNvSpPr txBox="1"/>
              <p:nvPr/>
            </p:nvSpPr>
            <p:spPr>
              <a:xfrm>
                <a:off x="2207819" y="3429000"/>
                <a:ext cx="18772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Scoring </a:t>
                </a:r>
              </a:p>
              <a:p>
                <a:pPr algn="ctr"/>
                <a:r>
                  <a:rPr lang="en-US" b="1" dirty="0"/>
                  <a:t>Algorithm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B8916B6-B867-4C06-974D-FE8431A255D5}"/>
              </a:ext>
            </a:extLst>
          </p:cNvPr>
          <p:cNvSpPr txBox="1"/>
          <p:nvPr/>
        </p:nvSpPr>
        <p:spPr>
          <a:xfrm>
            <a:off x="5590598" y="2004058"/>
            <a:ext cx="1557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Technical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015636-44D6-42FA-931F-8A34856D9818}"/>
              </a:ext>
            </a:extLst>
          </p:cNvPr>
          <p:cNvSpPr txBox="1"/>
          <p:nvPr/>
        </p:nvSpPr>
        <p:spPr>
          <a:xfrm>
            <a:off x="5590599" y="2468754"/>
            <a:ext cx="1557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Analytical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7C00AB-E301-4351-AE8D-6D4AE04238C1}"/>
              </a:ext>
            </a:extLst>
          </p:cNvPr>
          <p:cNvSpPr txBox="1"/>
          <p:nvPr/>
        </p:nvSpPr>
        <p:spPr>
          <a:xfrm>
            <a:off x="5585360" y="2902956"/>
            <a:ext cx="1557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Agile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7B8748-691D-4A6C-961A-BCD6E42A7FBB}"/>
              </a:ext>
            </a:extLst>
          </p:cNvPr>
          <p:cNvSpPr txBox="1"/>
          <p:nvPr/>
        </p:nvSpPr>
        <p:spPr>
          <a:xfrm>
            <a:off x="5484421" y="3405082"/>
            <a:ext cx="1759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Compliance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464F83-A12E-48DB-A6AE-B5A0AD0BF5E7}"/>
              </a:ext>
            </a:extLst>
          </p:cNvPr>
          <p:cNvSpPr txBox="1"/>
          <p:nvPr/>
        </p:nvSpPr>
        <p:spPr>
          <a:xfrm>
            <a:off x="5484421" y="3934364"/>
            <a:ext cx="1826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Broad-Scope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281F87-B186-46BB-83DD-44D8297BFFDF}"/>
              </a:ext>
            </a:extLst>
          </p:cNvPr>
          <p:cNvSpPr txBox="1"/>
          <p:nvPr/>
        </p:nvSpPr>
        <p:spPr>
          <a:xfrm>
            <a:off x="5462647" y="4426736"/>
            <a:ext cx="1826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Investigative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10F449-4A90-4C86-A5E1-60FF0D8890FB}"/>
              </a:ext>
            </a:extLst>
          </p:cNvPr>
          <p:cNvSpPr txBox="1"/>
          <p:nvPr/>
        </p:nvSpPr>
        <p:spPr>
          <a:xfrm>
            <a:off x="5407229" y="4949929"/>
            <a:ext cx="2141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Law/Regulatory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48A639-E438-4940-80DE-6BA63E388A6A}"/>
              </a:ext>
            </a:extLst>
          </p:cNvPr>
          <p:cNvSpPr txBox="1"/>
          <p:nvPr/>
        </p:nvSpPr>
        <p:spPr>
          <a:xfrm>
            <a:off x="5462647" y="5424899"/>
            <a:ext cx="1913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Legal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AF254C-9FD5-4392-B95C-772F010954F2}"/>
              </a:ext>
            </a:extLst>
          </p:cNvPr>
          <p:cNvSpPr txBox="1"/>
          <p:nvPr/>
        </p:nvSpPr>
        <p:spPr>
          <a:xfrm>
            <a:off x="5196445" y="5954181"/>
            <a:ext cx="2402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Policy-Focused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80FF5B7-C25F-4497-ABB7-96EED608691D}"/>
              </a:ext>
            </a:extLst>
          </p:cNvPr>
          <p:cNvSpPr/>
          <p:nvPr/>
        </p:nvSpPr>
        <p:spPr>
          <a:xfrm>
            <a:off x="7588328" y="4045640"/>
            <a:ext cx="1413164" cy="20468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29B856-5E38-48A4-88BB-215C784EFF48}"/>
              </a:ext>
            </a:extLst>
          </p:cNvPr>
          <p:cNvSpPr txBox="1"/>
          <p:nvPr/>
        </p:nvSpPr>
        <p:spPr>
          <a:xfrm>
            <a:off x="1812964" y="4276160"/>
            <a:ext cx="1877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Manual</a:t>
            </a:r>
          </a:p>
          <a:p>
            <a:pPr algn="ctr"/>
            <a:r>
              <a:rPr lang="en-US" b="1" dirty="0"/>
              <a:t>Checks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A3A144-A401-4FE0-A73A-EFD9ACCAC401}"/>
              </a:ext>
            </a:extLst>
          </p:cNvPr>
          <p:cNvSpPr txBox="1"/>
          <p:nvPr/>
        </p:nvSpPr>
        <p:spPr>
          <a:xfrm>
            <a:off x="8805548" y="3809847"/>
            <a:ext cx="2700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Manual tagging to other categories</a:t>
            </a:r>
          </a:p>
        </p:txBody>
      </p:sp>
    </p:spTree>
    <p:extLst>
      <p:ext uri="{BB962C8B-B14F-4D97-AF65-F5344CB8AC3E}">
        <p14:creationId xmlns:p14="http://schemas.microsoft.com/office/powerpoint/2010/main" val="199995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9896-CAB1-4DC3-8B53-CF19C25C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ΤΡΟΠΟΙ ΑΝΑΛΥΣΗΣ</a:t>
            </a:r>
            <a:endParaRPr lang="en-US" b="1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42D29EB-77CD-48B6-9872-3B704515DEBB}"/>
              </a:ext>
            </a:extLst>
          </p:cNvPr>
          <p:cNvGrpSpPr/>
          <p:nvPr/>
        </p:nvGrpSpPr>
        <p:grpSpPr>
          <a:xfrm>
            <a:off x="682132" y="2300111"/>
            <a:ext cx="10824068" cy="2959692"/>
            <a:chOff x="65605" y="2294174"/>
            <a:chExt cx="10824068" cy="295969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B9738EF-7AB3-4C58-AA9C-4462E92B6DD1}"/>
                </a:ext>
              </a:extLst>
            </p:cNvPr>
            <p:cNvGrpSpPr/>
            <p:nvPr/>
          </p:nvGrpSpPr>
          <p:grpSpPr>
            <a:xfrm>
              <a:off x="65605" y="2294174"/>
              <a:ext cx="3695226" cy="2959692"/>
              <a:chOff x="196234" y="2290157"/>
              <a:chExt cx="3695226" cy="2959692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FE2025-3E0E-4506-BECD-4104616C86B5}"/>
                  </a:ext>
                </a:extLst>
              </p:cNvPr>
              <p:cNvSpPr txBox="1"/>
              <p:nvPr/>
            </p:nvSpPr>
            <p:spPr>
              <a:xfrm>
                <a:off x="552101" y="3113174"/>
                <a:ext cx="220925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Germany Data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9D982-DC97-4867-A7DB-2799D614A446}"/>
                  </a:ext>
                </a:extLst>
              </p:cNvPr>
              <p:cNvSpPr txBox="1"/>
              <p:nvPr/>
            </p:nvSpPr>
            <p:spPr>
              <a:xfrm>
                <a:off x="196234" y="4388075"/>
                <a:ext cx="25651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Netherlands Data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4756E26-1126-4232-AF9E-E27E44573538}"/>
                  </a:ext>
                </a:extLst>
              </p:cNvPr>
              <p:cNvGrpSpPr/>
              <p:nvPr/>
            </p:nvGrpSpPr>
            <p:grpSpPr>
              <a:xfrm>
                <a:off x="752477" y="2290157"/>
                <a:ext cx="3138983" cy="2959692"/>
                <a:chOff x="752477" y="2290157"/>
                <a:chExt cx="3138983" cy="295969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F21E8E9-CB03-417B-9CE2-8529F7E8AF2B}"/>
                    </a:ext>
                  </a:extLst>
                </p:cNvPr>
                <p:cNvSpPr txBox="1"/>
                <p:nvPr/>
              </p:nvSpPr>
              <p:spPr>
                <a:xfrm>
                  <a:off x="1307116" y="2290157"/>
                  <a:ext cx="1454244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200" b="1" dirty="0"/>
                    <a:t>USA Data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52E8E8F-C3FB-4142-A078-46753D80D348}"/>
                    </a:ext>
                  </a:extLst>
                </p:cNvPr>
                <p:cNvSpPr txBox="1"/>
                <p:nvPr/>
              </p:nvSpPr>
              <p:spPr>
                <a:xfrm>
                  <a:off x="1488255" y="2709961"/>
                  <a:ext cx="127310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200" b="1" dirty="0"/>
                    <a:t>UK Data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0CA4DA2-6B7C-4962-9A6B-62EDA2160BC2}"/>
                    </a:ext>
                  </a:extLst>
                </p:cNvPr>
                <p:cNvSpPr txBox="1"/>
                <p:nvPr/>
              </p:nvSpPr>
              <p:spPr>
                <a:xfrm>
                  <a:off x="1263834" y="3532978"/>
                  <a:ext cx="149752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200" b="1" dirty="0"/>
                    <a:t>Italy Data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C63B4B-B172-45CA-AD09-124915FAF925}"/>
                    </a:ext>
                  </a:extLst>
                </p:cNvPr>
                <p:cNvSpPr txBox="1"/>
                <p:nvPr/>
              </p:nvSpPr>
              <p:spPr>
                <a:xfrm>
                  <a:off x="901555" y="3954695"/>
                  <a:ext cx="1859805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200" b="1" dirty="0"/>
                    <a:t>France Data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D0E47CE-0324-4F88-AED3-977E443C6A9A}"/>
                    </a:ext>
                  </a:extLst>
                </p:cNvPr>
                <p:cNvSpPr txBox="1"/>
                <p:nvPr/>
              </p:nvSpPr>
              <p:spPr>
                <a:xfrm>
                  <a:off x="752477" y="4818962"/>
                  <a:ext cx="200888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200" b="1" dirty="0"/>
                    <a:t>Sweden Data</a:t>
                  </a:r>
                </a:p>
              </p:txBody>
            </p: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92B50AFD-6A66-4618-8664-8BAB2F4505FD}"/>
                    </a:ext>
                  </a:extLst>
                </p:cNvPr>
                <p:cNvGrpSpPr/>
                <p:nvPr/>
              </p:nvGrpSpPr>
              <p:grpSpPr>
                <a:xfrm>
                  <a:off x="2818740" y="2505600"/>
                  <a:ext cx="1016990" cy="2576414"/>
                  <a:chOff x="2818740" y="2505600"/>
                  <a:chExt cx="1016990" cy="2576414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0D916386-F312-44FD-8AB5-590384E4A59E}"/>
                      </a:ext>
                    </a:extLst>
                  </p:cNvPr>
                  <p:cNvSpPr/>
                  <p:nvPr/>
                </p:nvSpPr>
                <p:spPr>
                  <a:xfrm>
                    <a:off x="2820390" y="2505600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588CE19-F836-49CE-A628-07FBFF2DDC8E}"/>
                      </a:ext>
                    </a:extLst>
                  </p:cNvPr>
                  <p:cNvSpPr/>
                  <p:nvPr/>
                </p:nvSpPr>
                <p:spPr>
                  <a:xfrm>
                    <a:off x="2820390" y="2925404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51B5594-B70B-4609-96DD-5469C5E2915D}"/>
                      </a:ext>
                    </a:extLst>
                  </p:cNvPr>
                  <p:cNvSpPr/>
                  <p:nvPr/>
                </p:nvSpPr>
                <p:spPr>
                  <a:xfrm>
                    <a:off x="2820390" y="3345208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25D2FEF-855A-4E2B-B08C-B72DE5326D1F}"/>
                      </a:ext>
                    </a:extLst>
                  </p:cNvPr>
                  <p:cNvSpPr/>
                  <p:nvPr/>
                </p:nvSpPr>
                <p:spPr>
                  <a:xfrm>
                    <a:off x="2818740" y="3748421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970426D0-B3AA-4151-9D30-3D830B2531BB}"/>
                      </a:ext>
                    </a:extLst>
                  </p:cNvPr>
                  <p:cNvSpPr/>
                  <p:nvPr/>
                </p:nvSpPr>
                <p:spPr>
                  <a:xfrm>
                    <a:off x="2818740" y="4168225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C4A0513-F6C8-4940-879B-6A29384C9390}"/>
                      </a:ext>
                    </a:extLst>
                  </p:cNvPr>
                  <p:cNvSpPr/>
                  <p:nvPr/>
                </p:nvSpPr>
                <p:spPr>
                  <a:xfrm>
                    <a:off x="2818740" y="4603518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40736F0A-59D7-47AA-A4AE-25AEA7351F48}"/>
                      </a:ext>
                    </a:extLst>
                  </p:cNvPr>
                  <p:cNvSpPr/>
                  <p:nvPr/>
                </p:nvSpPr>
                <p:spPr>
                  <a:xfrm>
                    <a:off x="2818740" y="5034419"/>
                    <a:ext cx="1015340" cy="47595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5A61EE0-B862-4BE6-8423-EDDEDCEF2A64}"/>
                    </a:ext>
                  </a:extLst>
                </p:cNvPr>
                <p:cNvSpPr/>
                <p:nvPr/>
              </p:nvSpPr>
              <p:spPr>
                <a:xfrm>
                  <a:off x="3838022" y="2505600"/>
                  <a:ext cx="53438" cy="2576414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41FA522-D98F-4DAB-82E0-505DE1DCE7C6}"/>
                </a:ext>
              </a:extLst>
            </p:cNvPr>
            <p:cNvGrpSpPr/>
            <p:nvPr/>
          </p:nvGrpSpPr>
          <p:grpSpPr>
            <a:xfrm>
              <a:off x="3760831" y="3536994"/>
              <a:ext cx="7128842" cy="430887"/>
              <a:chOff x="3760831" y="3536994"/>
              <a:chExt cx="7128842" cy="430887"/>
            </a:xfrm>
          </p:grpSpPr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4C077433-03F9-43EC-AB1F-6D7B51A126C6}"/>
                  </a:ext>
                </a:extLst>
              </p:cNvPr>
              <p:cNvSpPr/>
              <p:nvPr/>
            </p:nvSpPr>
            <p:spPr>
              <a:xfrm>
                <a:off x="3760831" y="3709722"/>
                <a:ext cx="1318161" cy="133026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640A6D-C41C-473B-98BF-3E7372857E3A}"/>
                  </a:ext>
                </a:extLst>
              </p:cNvPr>
              <p:cNvSpPr txBox="1"/>
              <p:nvPr/>
            </p:nvSpPr>
            <p:spPr>
              <a:xfrm>
                <a:off x="5078992" y="3536994"/>
                <a:ext cx="198911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Total Dataset</a:t>
                </a:r>
              </a:p>
            </p:txBody>
          </p:sp>
          <p:sp>
            <p:nvSpPr>
              <p:cNvPr id="44" name="Arrow: Right 43">
                <a:extLst>
                  <a:ext uri="{FF2B5EF4-FFF2-40B4-BE49-F238E27FC236}">
                    <a16:creationId xmlns:a16="http://schemas.microsoft.com/office/drawing/2014/main" id="{C38CCF07-F497-4177-84AE-154F423A996A}"/>
                  </a:ext>
                </a:extLst>
              </p:cNvPr>
              <p:cNvSpPr/>
              <p:nvPr/>
            </p:nvSpPr>
            <p:spPr>
              <a:xfrm>
                <a:off x="7068109" y="3703619"/>
                <a:ext cx="1318161" cy="133026"/>
              </a:xfrm>
              <a:prstGeom prst="rightArrow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59C9E3-5C4E-447E-8B5C-6215B3EADA60}"/>
                  </a:ext>
                </a:extLst>
              </p:cNvPr>
              <p:cNvSpPr txBox="1"/>
              <p:nvPr/>
            </p:nvSpPr>
            <p:spPr>
              <a:xfrm>
                <a:off x="8431171" y="3536994"/>
                <a:ext cx="24585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Sector Analysis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837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9896-CAB1-4DC3-8B53-CF19C25C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ΤΡΟΠΟΙ ΑΝΑΛΥΣΗΣ</a:t>
            </a:r>
            <a:endParaRPr lang="en-US" b="1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9738EF-7AB3-4C58-AA9C-4462E92B6DD1}"/>
              </a:ext>
            </a:extLst>
          </p:cNvPr>
          <p:cNvGrpSpPr/>
          <p:nvPr/>
        </p:nvGrpSpPr>
        <p:grpSpPr>
          <a:xfrm>
            <a:off x="682132" y="2300111"/>
            <a:ext cx="3695226" cy="2959692"/>
            <a:chOff x="196234" y="2290157"/>
            <a:chExt cx="3695226" cy="29596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FE2025-3E0E-4506-BECD-4104616C86B5}"/>
                </a:ext>
              </a:extLst>
            </p:cNvPr>
            <p:cNvSpPr txBox="1"/>
            <p:nvPr/>
          </p:nvSpPr>
          <p:spPr>
            <a:xfrm>
              <a:off x="552101" y="3113174"/>
              <a:ext cx="220925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/>
                <a:t>Germany Data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99D982-DC97-4867-A7DB-2799D614A446}"/>
                </a:ext>
              </a:extLst>
            </p:cNvPr>
            <p:cNvSpPr txBox="1"/>
            <p:nvPr/>
          </p:nvSpPr>
          <p:spPr>
            <a:xfrm>
              <a:off x="196234" y="4388075"/>
              <a:ext cx="256512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/>
                <a:t>Netherlands Data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4756E26-1126-4232-AF9E-E27E44573538}"/>
                </a:ext>
              </a:extLst>
            </p:cNvPr>
            <p:cNvGrpSpPr/>
            <p:nvPr/>
          </p:nvGrpSpPr>
          <p:grpSpPr>
            <a:xfrm>
              <a:off x="752477" y="2290157"/>
              <a:ext cx="3138983" cy="2959692"/>
              <a:chOff x="752477" y="2290157"/>
              <a:chExt cx="3138983" cy="295969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21E8E9-CB03-417B-9CE2-8529F7E8AF2B}"/>
                  </a:ext>
                </a:extLst>
              </p:cNvPr>
              <p:cNvSpPr txBox="1"/>
              <p:nvPr/>
            </p:nvSpPr>
            <p:spPr>
              <a:xfrm>
                <a:off x="1307116" y="2290157"/>
                <a:ext cx="145424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USA Data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2E8E8F-C3FB-4142-A078-46753D80D348}"/>
                  </a:ext>
                </a:extLst>
              </p:cNvPr>
              <p:cNvSpPr txBox="1"/>
              <p:nvPr/>
            </p:nvSpPr>
            <p:spPr>
              <a:xfrm>
                <a:off x="1488255" y="2709961"/>
                <a:ext cx="127310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UK Data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CA4DA2-6B7C-4962-9A6B-62EDA2160BC2}"/>
                  </a:ext>
                </a:extLst>
              </p:cNvPr>
              <p:cNvSpPr txBox="1"/>
              <p:nvPr/>
            </p:nvSpPr>
            <p:spPr>
              <a:xfrm>
                <a:off x="1263834" y="3532978"/>
                <a:ext cx="14975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Italy Data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C63B4B-B172-45CA-AD09-124915FAF925}"/>
                  </a:ext>
                </a:extLst>
              </p:cNvPr>
              <p:cNvSpPr txBox="1"/>
              <p:nvPr/>
            </p:nvSpPr>
            <p:spPr>
              <a:xfrm>
                <a:off x="901555" y="3954695"/>
                <a:ext cx="185980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France Data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0E47CE-0324-4F88-AED3-977E443C6A9A}"/>
                  </a:ext>
                </a:extLst>
              </p:cNvPr>
              <p:cNvSpPr txBox="1"/>
              <p:nvPr/>
            </p:nvSpPr>
            <p:spPr>
              <a:xfrm>
                <a:off x="752477" y="4818962"/>
                <a:ext cx="20088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200" b="1" dirty="0"/>
                  <a:t>Sweden Data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92B50AFD-6A66-4618-8664-8BAB2F4505FD}"/>
                  </a:ext>
                </a:extLst>
              </p:cNvPr>
              <p:cNvGrpSpPr/>
              <p:nvPr/>
            </p:nvGrpSpPr>
            <p:grpSpPr>
              <a:xfrm>
                <a:off x="2818740" y="2505600"/>
                <a:ext cx="1016990" cy="2576414"/>
                <a:chOff x="2818740" y="2505600"/>
                <a:chExt cx="1016990" cy="2576414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D916386-F312-44FD-8AB5-590384E4A59E}"/>
                    </a:ext>
                  </a:extLst>
                </p:cNvPr>
                <p:cNvSpPr/>
                <p:nvPr/>
              </p:nvSpPr>
              <p:spPr>
                <a:xfrm>
                  <a:off x="2820390" y="2505600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0588CE19-F836-49CE-A628-07FBFF2DDC8E}"/>
                    </a:ext>
                  </a:extLst>
                </p:cNvPr>
                <p:cNvSpPr/>
                <p:nvPr/>
              </p:nvSpPr>
              <p:spPr>
                <a:xfrm>
                  <a:off x="2820390" y="2925404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51B5594-B70B-4609-96DD-5469C5E2915D}"/>
                    </a:ext>
                  </a:extLst>
                </p:cNvPr>
                <p:cNvSpPr/>
                <p:nvPr/>
              </p:nvSpPr>
              <p:spPr>
                <a:xfrm>
                  <a:off x="2820390" y="3345208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25D2FEF-855A-4E2B-B08C-B72DE5326D1F}"/>
                    </a:ext>
                  </a:extLst>
                </p:cNvPr>
                <p:cNvSpPr/>
                <p:nvPr/>
              </p:nvSpPr>
              <p:spPr>
                <a:xfrm>
                  <a:off x="2818740" y="3748421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970426D0-B3AA-4151-9D30-3D830B2531BB}"/>
                    </a:ext>
                  </a:extLst>
                </p:cNvPr>
                <p:cNvSpPr/>
                <p:nvPr/>
              </p:nvSpPr>
              <p:spPr>
                <a:xfrm>
                  <a:off x="2818740" y="4168225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C4A0513-F6C8-4940-879B-6A29384C9390}"/>
                    </a:ext>
                  </a:extLst>
                </p:cNvPr>
                <p:cNvSpPr/>
                <p:nvPr/>
              </p:nvSpPr>
              <p:spPr>
                <a:xfrm>
                  <a:off x="2818740" y="4603518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0736F0A-59D7-47AA-A4AE-25AEA7351F48}"/>
                    </a:ext>
                  </a:extLst>
                </p:cNvPr>
                <p:cNvSpPr/>
                <p:nvPr/>
              </p:nvSpPr>
              <p:spPr>
                <a:xfrm>
                  <a:off x="2818740" y="5034419"/>
                  <a:ext cx="1015340" cy="4759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5A61EE0-B862-4BE6-8423-EDDEDCEF2A64}"/>
                  </a:ext>
                </a:extLst>
              </p:cNvPr>
              <p:cNvSpPr/>
              <p:nvPr/>
            </p:nvSpPr>
            <p:spPr>
              <a:xfrm>
                <a:off x="3838022" y="2505600"/>
                <a:ext cx="53438" cy="25764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C077433-03F9-43EC-AB1F-6D7B51A126C6}"/>
              </a:ext>
            </a:extLst>
          </p:cNvPr>
          <p:cNvSpPr/>
          <p:nvPr/>
        </p:nvSpPr>
        <p:spPr>
          <a:xfrm>
            <a:off x="4377358" y="3715659"/>
            <a:ext cx="1318161" cy="13302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640A6D-C41C-473B-98BF-3E7372857E3A}"/>
              </a:ext>
            </a:extLst>
          </p:cNvPr>
          <p:cNvSpPr txBox="1"/>
          <p:nvPr/>
        </p:nvSpPr>
        <p:spPr>
          <a:xfrm>
            <a:off x="5695519" y="3542931"/>
            <a:ext cx="2575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Country Analysis</a:t>
            </a:r>
          </a:p>
        </p:txBody>
      </p:sp>
    </p:spTree>
    <p:extLst>
      <p:ext uri="{BB962C8B-B14F-4D97-AF65-F5344CB8AC3E}">
        <p14:creationId xmlns:p14="http://schemas.microsoft.com/office/powerpoint/2010/main" val="150913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CB43-580D-4421-BBE7-6FEA7E07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ΔΕΙΚΤΕΣ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EBE3-71FA-412B-8D29-7838EF80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b="1" dirty="0"/>
              <a:t>2 Κατηγορίες Δεικτών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r>
              <a:rPr lang="el-GR" dirty="0"/>
              <a:t>Δείκτες Δομής Αγοράς Εργασίας</a:t>
            </a:r>
          </a:p>
          <a:p>
            <a:endParaRPr lang="el-GR" dirty="0"/>
          </a:p>
          <a:p>
            <a:r>
              <a:rPr lang="el-GR" dirty="0"/>
              <a:t>Δείκτες Δομής Δεξιοτήτων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6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CB43-580D-4421-BBE7-6FEA7E07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ΔΕΙΚΤΕΣ ΑΓΟΡΑΣ ΕΡΓΑΣΙΑΣ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4379" y="2194560"/>
                <a:ext cx="11351821" cy="40241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Herfindahl–Hirschman Index </a:t>
                </a:r>
                <a:endParaRPr lang="el-GR" sz="1800" b="1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HHI</m:t>
                    </m:r>
                    <m:r>
                      <a:rPr lang="en-US" sz="180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∑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𝛮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i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=1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​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endParaRPr lang="el-G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endParaRPr lang="el-G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Άθροισμα τετραγώνων μεριδίων</a:t>
                </a:r>
                <a:r>
                  <a:rPr lang="el-GR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αγοράς των εταιριών</a:t>
                </a:r>
              </a:p>
              <a:p>
                <a:endParaRPr lang="el-GR" sz="1800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Δείχνει πόσο συγκεντρωμέν</a:t>
                </a:r>
                <a:r>
                  <a:rPr lang="el-GR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η είναι η αγορά</a:t>
                </a:r>
              </a:p>
              <a:p>
                <a:endParaRPr lang="el-G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Όσο μικρότερο το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HHI, </a:t>
                </a:r>
                <a:r>
                  <a:rPr lang="el-GR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τόσο πιο ανταγωνιστική η αγορά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4379" y="2194560"/>
                <a:ext cx="11351821" cy="4024125"/>
              </a:xfrm>
              <a:blipFill>
                <a:blip r:embed="rId3"/>
                <a:stretch>
                  <a:fillRect l="-429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941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CB43-580D-4421-BBE7-6FEA7E07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ΔΕΙΚΤΕΣ ΑΓΟΡΑΣ ΕΡΓΑΣΙΑΣ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504" y="2194560"/>
                <a:ext cx="11363696" cy="40241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latin typeface="Calibri" panose="020F050202020403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Concentration Ratio 4</a:t>
                </a:r>
                <a:endParaRPr lang="el-GR" sz="1800" b="1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​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endParaRPr lang="el-G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endParaRPr lang="el-GR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Άθροισμα μεριδίων</a:t>
                </a:r>
                <a:r>
                  <a:rPr lang="el-GR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αγοράς των </a:t>
                </a:r>
                <a:r>
                  <a:rPr lang="en-US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4 </a:t>
                </a:r>
                <a:r>
                  <a:rPr lang="el-GR" sz="1800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μεγαλύτερων εταιριών</a:t>
                </a:r>
              </a:p>
              <a:p>
                <a:endParaRPr lang="el-GR" sz="1800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Δείχνει τι ποσοστό των αγγελιών ανήκει στις 4 μεγαλύτερες εταιρίες κάθε τομέα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504" y="2194560"/>
                <a:ext cx="11363696" cy="4024125"/>
              </a:xfrm>
              <a:blipFill>
                <a:blip r:embed="rId3"/>
                <a:stretch>
                  <a:fillRect l="-590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13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CB43-580D-4421-BBE7-6FEA7E07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ΔΕΙΚΤΕΣ ΔΕΞΙΟΤΗΤΩΝ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505" y="2194560"/>
                <a:ext cx="11916888" cy="40241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Shannon Entropy</a:t>
                </a:r>
                <a:endParaRPr lang="en-US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sz="180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όπου Κ = αριθμός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ποσοστό αγγελιών που ζητούν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category I</a:t>
                </a:r>
                <a:endParaRPr lang="el-GR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Υπολογίζει κατανομή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 </a:t>
                </a:r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μέσα σε κάθε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sector</a:t>
                </a:r>
                <a:endParaRPr lang="el-G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Μεγάλο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= </a:t>
                </a:r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Μεγ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άλη ποικιλία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</a:t>
                </a:r>
                <a:endParaRPr lang="el-GR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Μικρό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=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Λίγα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επικρατούν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505" y="2194560"/>
                <a:ext cx="11916888" cy="4024125"/>
              </a:xfrm>
              <a:blipFill>
                <a:blip r:embed="rId3"/>
                <a:stretch>
                  <a:fillRect l="-409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260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CB43-580D-4421-BBE7-6FEA7E07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ΔΕΙΚΤΕΣ ΔΕΞΙΟΤΗΤΩΝ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505" y="2194560"/>
                <a:ext cx="11916888" cy="40241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Gini Coefficient</a:t>
                </a:r>
              </a:p>
              <a:p>
                <a:pPr marL="0" indent="0"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</m:sSup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</m:sSup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̅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𝐾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sz="180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​</m:t>
                        </m:r>
                      </m:den>
                    </m:f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</a:p>
              <a:p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 = αριθμός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στον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και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αριθμός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job postings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για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category 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j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και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μέσος αριθμός αγγελιών ανά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category </a:t>
                </a: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Υπολογίζει πόσο άνισα κατανέμεται η ζήτηση των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 </a:t>
                </a:r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σε κάθε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sector</a:t>
                </a:r>
                <a:endParaRPr lang="el-G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Μεγάλο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Gini = </a:t>
                </a:r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Λίγα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skill categories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επικρατούν</a:t>
                </a: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Μικρό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Gini = Balanced skill demand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1EBE3-71FA-412B-8D29-7838EF80E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505" y="2194560"/>
                <a:ext cx="11916888" cy="4024125"/>
              </a:xfrm>
              <a:blipFill>
                <a:blip r:embed="rId3"/>
                <a:stretch>
                  <a:fillRect l="-409" t="-1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28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97D2-9B26-4C5D-B612-88D41213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ΚΑΝΟΝΙΚΟΠΟΙΗΣΗ ΔΕΙΚΤΩΝ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2ABC-C3C6-4C47-BE34-B690E536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30" y="2194560"/>
            <a:ext cx="11328070" cy="4024125"/>
          </a:xfrm>
        </p:spPr>
        <p:txBody>
          <a:bodyPr>
            <a:normAutofit/>
          </a:bodyPr>
          <a:lstStyle/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να είναι δυνατή η σύγκριση των δεικτών, εφαρμόστηκε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percentile-based ranking.</a:t>
            </a:r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</a:t>
            </a:r>
            <a:r>
              <a:rPr lang="el-G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sectors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ταξινομήθηκαν ξεχωριστά για κάθε δείκτη.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Για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HHI, CR4, Gini 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όπου μικρή τιμή σημαίνει μεγαλύτερος ανταγωνισμός έγινε αντιστροφή της κλίμακας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35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E5B-40D2-444D-8F23-3F230B69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SCORE</a:t>
            </a:r>
            <a:r>
              <a:rPr lang="el-GR" b="1" dirty="0"/>
              <a:t> ανταγωνιστικΟτητας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BB5B6-7CC2-4761-91FB-945CC99850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Οι κανονικοποιημένοι δείκτες συνδυάστηκαν σε ένα συνολικό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score </a:t>
                </a:r>
              </a:p>
              <a:p>
                <a:pPr marL="0" indent="0">
                  <a:buNone/>
                </a:pPr>
                <a:r>
                  <a:rPr lang="el-GR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𝑆𝑐𝑜𝑟𝑒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100∗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𝐻𝐻𝐼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𝐶𝑅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𝐸𝑛𝑡𝑟𝑜𝑝𝑦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𝐺𝑖𝑛𝑖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l-GR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Με βάση το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score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κάθε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sector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ορίζεται σε κατηγορία ανταγωνιστικότητας</a:t>
                </a:r>
              </a:p>
              <a:p>
                <a:pPr marL="0" indent="0">
                  <a:buNone/>
                </a:pPr>
                <a:endParaRPr lang="el-GR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Score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75-100 -&gt; Υψηλή Ανταγωνιστικότητα</a:t>
                </a:r>
              </a:p>
              <a:p>
                <a:endParaRPr lang="el-GR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Score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49-74 -&gt; Μέτρια Ανταγωνιστικότητα</a:t>
                </a:r>
              </a:p>
              <a:p>
                <a:endParaRPr lang="el-GR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Score </a:t>
                </a:r>
                <a:r>
                  <a:rPr lang="el-GR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01-48 -&gt; Χαμηλή Ανταγωνιστικότητα</a:t>
                </a:r>
              </a:p>
              <a:p>
                <a:endParaRPr lang="el-GR" dirty="0"/>
              </a:p>
              <a:p>
                <a:endParaRPr lang="el-G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BB5B6-7CC2-4761-91FB-945CC9985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07" t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216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3FB5-01A8-4B52-91CB-CB00B808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Ζωνες</a:t>
            </a:r>
            <a:r>
              <a:rPr lang="el-GR" b="1" dirty="0"/>
              <a:t> </a:t>
            </a:r>
            <a:r>
              <a:rPr lang="el-GR" b="1" dirty="0" err="1"/>
              <a:t>Ανταγωνιστικοτητας</a:t>
            </a:r>
            <a:endParaRPr lang="en-US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C3710A-1905-4049-A92E-8D0E7B2EF67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007357"/>
              </p:ext>
            </p:extLst>
          </p:nvPr>
        </p:nvGraphicFramePr>
        <p:xfrm>
          <a:off x="685800" y="2193925"/>
          <a:ext cx="5334000" cy="4024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456AE-276A-4309-96F5-19AB751D85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Υψηλής Ανταγωνιστικότητας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Energy &amp; Utilities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Healthcare &amp; Pharma 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Μεσαίας Ανταγωνιστικότητας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Law &amp; Legal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Consulting Services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Χαμηλής Ανταγωνιστικότητας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Finance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280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4B2F-8050-4FB6-8C00-1CA88FDD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 err="1"/>
              <a:t>Δεξιοτητεσ</a:t>
            </a:r>
            <a:r>
              <a:rPr lang="el-GR" b="1" dirty="0"/>
              <a:t> </a:t>
            </a:r>
            <a:r>
              <a:rPr lang="el-GR" b="1" dirty="0" err="1"/>
              <a:t>ανα</a:t>
            </a:r>
            <a:r>
              <a:rPr lang="el-GR" b="1" dirty="0"/>
              <a:t> </a:t>
            </a:r>
            <a:r>
              <a:rPr lang="el-GR" b="1" dirty="0" err="1"/>
              <a:t>κλαδο</a:t>
            </a:r>
            <a:endParaRPr lang="en-US" b="1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F1DDC39-18FD-455B-ADF0-2949BE380F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3" y="2299447"/>
            <a:ext cx="5880847" cy="455855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AD7B2-B7D4-4AB2-A064-2ABFD6BE0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3394" y="2534771"/>
            <a:ext cx="5810026" cy="308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Τεχνικές Δεξιότητες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Technology: software-centric skills (cloud, CI/CD, APIs, security tooling)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Energy &amp; Healthcare: operational και data-governance skills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Αναλυτικές δεξιότητες</a:t>
            </a:r>
          </a:p>
          <a:p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18–25% της συνολικής ζήτησης</a:t>
            </a:r>
            <a:endParaRPr lang="el-G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l-G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122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4B2F-8050-4FB6-8C00-1CA88FDD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129" y="762000"/>
            <a:ext cx="9296400" cy="1295400"/>
          </a:xfrm>
        </p:spPr>
        <p:txBody>
          <a:bodyPr/>
          <a:lstStyle/>
          <a:p>
            <a:pPr algn="ctr"/>
            <a:r>
              <a:rPr lang="el-GR" b="1" dirty="0" err="1"/>
              <a:t>Εστιαση</a:t>
            </a:r>
            <a:r>
              <a:rPr lang="el-GR" b="1" dirty="0"/>
              <a:t> στον </a:t>
            </a:r>
            <a:r>
              <a:rPr lang="el-GR" b="1" dirty="0" err="1"/>
              <a:t>Πυρηνα</a:t>
            </a:r>
            <a:r>
              <a:rPr lang="el-GR" b="1" dirty="0"/>
              <a:t> </a:t>
            </a:r>
            <a:r>
              <a:rPr lang="el-GR" b="1" dirty="0" err="1"/>
              <a:t>Προσληψεων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AD7B2-B7D4-4AB2-A064-2ABFD6BE0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3394" y="2534771"/>
            <a:ext cx="5334000" cy="3086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Κυρίαρχες κατευθύνσεις</a:t>
            </a:r>
            <a:endParaRPr lang="el-G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Technology → 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ακόμη πιο έντονα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Technical-heavy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Consulting &amp; Finance → 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κυρίως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Analytical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Law &amp; Legal →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Legal / Regulatory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1800" dirty="0">
                <a:latin typeface="Arial" panose="020B0604020202020204" pitchFamily="34" charset="0"/>
                <a:cs typeface="Arial" panose="020B0604020202020204" pitchFamily="34" charset="0"/>
              </a:rPr>
              <a:t>εξειδίκευση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Energy &amp; Utilities &amp; Healthcare &amp; Pharma → </a:t>
            </a: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συνδυασμός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l-GR" sz="1800" b="1" dirty="0">
                <a:latin typeface="Arial" panose="020B0604020202020204" pitchFamily="34" charset="0"/>
                <a:cs typeface="Arial" panose="020B0604020202020204" pitchFamily="34" charset="0"/>
              </a:rPr>
              <a:t>και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Analytical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AED84-CCA5-4877-9194-F31B0C6B8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3" y="2287953"/>
            <a:ext cx="5791203" cy="457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32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ENERGY &amp; UTILITIES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4692609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82117464"/>
              </p:ext>
            </p:extLst>
          </p:nvPr>
        </p:nvGraphicFramePr>
        <p:xfrm>
          <a:off x="6705413" y="1971961"/>
          <a:ext cx="4529604" cy="415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promote health and safety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internal risk management policy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solve problems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company regulations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Legal/Regulatory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company policies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continuous improvement philosophies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842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healthcare &amp; pharma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7842385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602512607"/>
              </p:ext>
            </p:extLst>
          </p:nvPr>
        </p:nvGraphicFramePr>
        <p:xfrm>
          <a:off x="6705413" y="1971961"/>
          <a:ext cx="4529604" cy="4379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company policies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provide user documentation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continuous improvement philosophies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company regulations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Legal/Regulatory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manage relationships with stakeholders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promote health and safety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454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Consulting services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5189175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80386118"/>
              </p:ext>
            </p:extLst>
          </p:nvPr>
        </p:nvGraphicFramePr>
        <p:xfrm>
          <a:off x="6705413" y="1971961"/>
          <a:ext cx="4529604" cy="420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innovation processes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351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internal risk management policy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coordinate security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332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consult with business clients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cyber security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provide user documentation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240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promote health and safety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238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538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Law &amp; legal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3000234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19214405"/>
              </p:ext>
            </p:extLst>
          </p:nvPr>
        </p:nvGraphicFramePr>
        <p:xfrm>
          <a:off x="6705413" y="1971961"/>
          <a:ext cx="4529604" cy="426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215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consult with business clients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detect financial crime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Investigative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internal risk management policy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legal requirements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Legal/Regulatory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define security policies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use firearms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799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FINANCE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135132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73866572"/>
              </p:ext>
            </p:extLst>
          </p:nvPr>
        </p:nvGraphicFramePr>
        <p:xfrm>
          <a:off x="6705413" y="1971961"/>
          <a:ext cx="4529604" cy="4323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2,366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1,989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internal risk management policy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1,437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1,411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consult with business clients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1,090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communicate with stakeholders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911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detect financial crime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Investigative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manage relationships with stakeholders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communicate with customers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821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993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C9F4-A230-42BC-B954-5A19B822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TECHNOLOGY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6ED2E8E-8D3B-4D29-ADE2-505502389C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6536165"/>
              </p:ext>
            </p:extLst>
          </p:nvPr>
        </p:nvGraphicFramePr>
        <p:xfrm>
          <a:off x="531160" y="2299447"/>
          <a:ext cx="5466416" cy="3918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D48BFF3-E240-4F82-AAD7-E4274C15C8E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59847208"/>
              </p:ext>
            </p:extLst>
          </p:nvPr>
        </p:nvGraphicFramePr>
        <p:xfrm>
          <a:off x="6705413" y="1971961"/>
          <a:ext cx="4529604" cy="426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216">
                  <a:extLst>
                    <a:ext uri="{9D8B030D-6E8A-4147-A177-3AD203B41FA5}">
                      <a16:colId xmlns:a16="http://schemas.microsoft.com/office/drawing/2014/main" val="2793812791"/>
                    </a:ext>
                  </a:extLst>
                </a:gridCol>
                <a:gridCol w="1058520">
                  <a:extLst>
                    <a:ext uri="{9D8B030D-6E8A-4147-A177-3AD203B41FA5}">
                      <a16:colId xmlns:a16="http://schemas.microsoft.com/office/drawing/2014/main" val="316592583"/>
                    </a:ext>
                  </a:extLst>
                </a:gridCol>
                <a:gridCol w="1509868">
                  <a:extLst>
                    <a:ext uri="{9D8B030D-6E8A-4147-A177-3AD203B41FA5}">
                      <a16:colId xmlns:a16="http://schemas.microsoft.com/office/drawing/2014/main" val="1284724989"/>
                    </a:ext>
                  </a:extLst>
                </a:gridCol>
              </a:tblGrid>
              <a:tr h="314350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Δεξιότητα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Πλήθος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Τύπος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037402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ensure compliance with policies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866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5766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 terminology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853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1271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disorders affecting self-awareness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Broad-Scope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79186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accounting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681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Analytical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07023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conduct financial audits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475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64042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coordinate security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460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39194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manage relationships with stakeholders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458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720"/>
                  </a:ext>
                </a:extLst>
              </a:tr>
              <a:tr h="3700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provide user documentation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392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395569"/>
                  </a:ext>
                </a:extLst>
              </a:tr>
              <a:tr h="314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communication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387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Technical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75053"/>
                  </a:ext>
                </a:extLst>
              </a:tr>
              <a:tr h="552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internal risk management policy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384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Policy-Focused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86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265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Στατιστικη</a:t>
            </a:r>
            <a:r>
              <a:rPr lang="el-GR" b="1" dirty="0"/>
              <a:t> </a:t>
            </a:r>
            <a:r>
              <a:rPr lang="el-GR" b="1" dirty="0" err="1"/>
              <a:t>Επικυρωση</a:t>
            </a:r>
            <a:endParaRPr 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E8B5E4-5AD9-4705-9725-D61A71760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9" y="1918387"/>
            <a:ext cx="30488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Sensitivity to Top-N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F2773-B691-4121-B794-72644C17B680}"/>
              </a:ext>
            </a:extLst>
          </p:cNvPr>
          <p:cNvSpPr txBox="1"/>
          <p:nvPr/>
        </p:nvSpPr>
        <p:spPr>
          <a:xfrm>
            <a:off x="352697" y="2475412"/>
            <a:ext cx="65289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ανάλυση επαναλήφθηκε για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Top-80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Top-120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3 δείκτες δεν έχουν μεγάλη απόκλιση στις τιμές τους.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Τα αποτελέσματα δεν εξαρτώνται από την επιλογή του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Top-100.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2C263-3F4F-4F3A-8BE2-A298B38B2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63" y="4107179"/>
            <a:ext cx="5207517" cy="2575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E7E32-61A1-4742-A749-03D2EE5BE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822" y="4068575"/>
            <a:ext cx="5356860" cy="267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5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Στατιστικη</a:t>
            </a:r>
            <a:r>
              <a:rPr lang="el-GR" b="1" dirty="0"/>
              <a:t> </a:t>
            </a:r>
            <a:r>
              <a:rPr lang="el-GR" b="1" dirty="0" err="1"/>
              <a:t>Επικυρωση</a:t>
            </a:r>
            <a:endParaRPr 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E8B5E4-5AD9-4705-9725-D61A71760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9" y="1918387"/>
            <a:ext cx="16385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Bootstrap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F2773-B691-4121-B794-72644C17B680}"/>
              </a:ext>
            </a:extLst>
          </p:cNvPr>
          <p:cNvSpPr txBox="1"/>
          <p:nvPr/>
        </p:nvSpPr>
        <p:spPr>
          <a:xfrm>
            <a:off x="352697" y="2475412"/>
            <a:ext cx="92886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Επαναδειγματοληψία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των δεδομένων, υπολογισμός διαστημάτων εμπιστοσύνης των δεικτών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διαφορές μεταξύ των τομέων παρέμειναν σταθερές.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Τα αποτελέσματα δείχνουν αξιόπιστα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F2227-5B27-4C83-869F-08DC0C5BDA18}"/>
              </a:ext>
            </a:extLst>
          </p:cNvPr>
          <p:cNvSpPr/>
          <p:nvPr/>
        </p:nvSpPr>
        <p:spPr>
          <a:xfrm>
            <a:off x="2369820" y="4094266"/>
            <a:ext cx="708660" cy="2110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905DC-E5D7-43AB-88E9-E0F83CEB25CF}"/>
              </a:ext>
            </a:extLst>
          </p:cNvPr>
          <p:cNvSpPr/>
          <p:nvPr/>
        </p:nvSpPr>
        <p:spPr>
          <a:xfrm>
            <a:off x="7252744" y="4048100"/>
            <a:ext cx="809216" cy="2494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FEF20F-90E4-49DA-A2FB-2894E89A6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1" y="4009413"/>
            <a:ext cx="5158740" cy="27285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85C654-DBE3-4AB0-8894-1086E56BB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19" y="3952740"/>
            <a:ext cx="5158740" cy="278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74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Στατιστικη</a:t>
            </a:r>
            <a:r>
              <a:rPr lang="el-GR" b="1" dirty="0"/>
              <a:t> </a:t>
            </a:r>
            <a:r>
              <a:rPr lang="el-GR" b="1" dirty="0" err="1"/>
              <a:t>Επικυρωση</a:t>
            </a:r>
            <a:endParaRPr 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E8B5E4-5AD9-4705-9725-D61A71760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9" y="1918387"/>
            <a:ext cx="52371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χ² test of independence</a:t>
            </a:r>
            <a:r>
              <a:rPr kumimoji="0" lang="el-G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Skills</a:t>
            </a: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F2773-B691-4121-B794-72644C17B680}"/>
              </a:ext>
            </a:extLst>
          </p:cNvPr>
          <p:cNvSpPr txBox="1"/>
          <p:nvPr/>
        </p:nvSpPr>
        <p:spPr>
          <a:xfrm>
            <a:off x="352697" y="2643269"/>
            <a:ext cx="7746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χ² </a:t>
            </a:r>
            <a:r>
              <a:rPr lang="en-US" dirty="0"/>
              <a:t>≈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199204, df = 40, p &lt; 0.001</a:t>
            </a:r>
            <a:r>
              <a:rPr lang="el-GR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-&gt;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ατιστικά σημαντική σχέση </a:t>
            </a:r>
            <a:endParaRPr lang="el-GR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Cramér’s V</a:t>
            </a:r>
            <a:r>
              <a:rPr kumimoji="0" lang="el-G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0.423 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lang="el-GR" altLang="en-US" dirty="0">
                <a:latin typeface="Arial" panose="020B0604020202020204" pitchFamily="34" charset="0"/>
              </a:rPr>
              <a:t>Σχετικά μ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ικρό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μέγεθος επίδρασης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1AC3756-E677-43CC-B984-C18B4D468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97" y="4025759"/>
            <a:ext cx="5995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χ² test of independence</a:t>
            </a:r>
            <a:r>
              <a:rPr lang="el-GR" altLang="en-US" sz="2400" b="1" dirty="0">
                <a:latin typeface="Arial" panose="020B0604020202020204" pitchFamily="34" charset="0"/>
              </a:rPr>
              <a:t> – </a:t>
            </a:r>
            <a:r>
              <a:rPr lang="en-US" altLang="en-US" sz="2400" b="1" dirty="0">
                <a:latin typeface="Arial" panose="020B0604020202020204" pitchFamily="34" charset="0"/>
              </a:rPr>
              <a:t>Top 100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AECE7-7AE3-4968-BB31-528FDE71BF89}"/>
              </a:ext>
            </a:extLst>
          </p:cNvPr>
          <p:cNvSpPr txBox="1"/>
          <p:nvPr/>
        </p:nvSpPr>
        <p:spPr>
          <a:xfrm>
            <a:off x="423679" y="4781224"/>
            <a:ext cx="7746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χ² = 25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df = 40, p &lt; 0.001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-&gt;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ατιστικά σημαντική σχέση </a:t>
            </a:r>
            <a:endParaRPr lang="el-GR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Cramér’s V</a:t>
            </a:r>
            <a:r>
              <a:rPr kumimoji="0" lang="el-G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0.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463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l-GR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Η σχέση γίνεται πιο έντονη στα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Top-100 skills</a:t>
            </a: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577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Στατιστικη</a:t>
            </a:r>
            <a:r>
              <a:rPr lang="el-GR" b="1" dirty="0"/>
              <a:t> </a:t>
            </a:r>
            <a:r>
              <a:rPr lang="el-GR" b="1" dirty="0" err="1"/>
              <a:t>Επικυρωση</a:t>
            </a:r>
            <a:endParaRPr 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4E8B5E4-5AD9-4705-9725-D61A71760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9" y="1918387"/>
            <a:ext cx="16385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Residuals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2F2773-B691-4121-B794-72644C17B680}"/>
              </a:ext>
            </a:extLst>
          </p:cNvPr>
          <p:cNvSpPr txBox="1"/>
          <p:nvPr/>
        </p:nvSpPr>
        <p:spPr>
          <a:xfrm>
            <a:off x="352697" y="2475412"/>
            <a:ext cx="1190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Έλεγχος για το ποιες κατηγορίες δεξιοτήτων εμφανίζονται περισσότερο από το αναμενόμενο σε κάθε τομέα.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14273-C873-48C6-B8E8-ED8E3C058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242" y="3360518"/>
            <a:ext cx="5519938" cy="34974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FB4A24-2F5C-46AF-8A47-5C9814BBF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79" y="3360518"/>
            <a:ext cx="5629666" cy="350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49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Στατιστικη</a:t>
            </a:r>
            <a:r>
              <a:rPr lang="el-GR" b="1" dirty="0"/>
              <a:t> </a:t>
            </a:r>
            <a:r>
              <a:rPr lang="el-GR" b="1" dirty="0" err="1"/>
              <a:t>Επικυρωση</a:t>
            </a: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247547-16B8-4F30-A4B7-F256615B6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621441"/>
              </p:ext>
            </p:extLst>
          </p:nvPr>
        </p:nvGraphicFramePr>
        <p:xfrm>
          <a:off x="6608204" y="2844744"/>
          <a:ext cx="5375367" cy="25977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1789">
                  <a:extLst>
                    <a:ext uri="{9D8B030D-6E8A-4147-A177-3AD203B41FA5}">
                      <a16:colId xmlns:a16="http://schemas.microsoft.com/office/drawing/2014/main" val="3688365889"/>
                    </a:ext>
                  </a:extLst>
                </a:gridCol>
                <a:gridCol w="1791789">
                  <a:extLst>
                    <a:ext uri="{9D8B030D-6E8A-4147-A177-3AD203B41FA5}">
                      <a16:colId xmlns:a16="http://schemas.microsoft.com/office/drawing/2014/main" val="2596843172"/>
                    </a:ext>
                  </a:extLst>
                </a:gridCol>
                <a:gridCol w="1791789">
                  <a:extLst>
                    <a:ext uri="{9D8B030D-6E8A-4147-A177-3AD203B41FA5}">
                      <a16:colId xmlns:a16="http://schemas.microsoft.com/office/drawing/2014/main" val="1735804707"/>
                    </a:ext>
                  </a:extLst>
                </a:gridCol>
              </a:tblGrid>
              <a:tr h="2884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Skill type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Spearman ρ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p-value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500647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Legal/Regulatory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0.478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0.338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992490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Technical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0.359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0.485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221335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Broad-Scope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0.120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0.822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470170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Compliance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0.120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0.822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646537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Agile/Methodology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0.000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1.000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392263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Policy-Focused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−0.239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0.648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606233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Analytical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−0.359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0.485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748867"/>
                  </a:ext>
                </a:extLst>
              </a:tr>
              <a:tr h="288656"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Investigative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−0.717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0.109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19928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F6C5755-2395-41BC-A0E0-C4C915F9C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679" y="1918387"/>
            <a:ext cx="34002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Spearman 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B9EEF9-120B-412E-B6CD-EAF9E2D3ACB0}"/>
              </a:ext>
            </a:extLst>
          </p:cNvPr>
          <p:cNvSpPr txBox="1"/>
          <p:nvPr/>
        </p:nvSpPr>
        <p:spPr>
          <a:xfrm>
            <a:off x="349812" y="2978332"/>
            <a:ext cx="57461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Στόχος ο εντοπισμός μοτίβων και όχι ο ισχυρός έλεγχος.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Investigative skills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πιο συχνά σε λιγότερο ανταγωνισμό.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 skills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πιο συχνά σε ανταγωνισμό.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683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Αναλυση</a:t>
            </a:r>
            <a:r>
              <a:rPr lang="el-GR" b="1" dirty="0"/>
              <a:t> </a:t>
            </a:r>
            <a:r>
              <a:rPr lang="el-GR" b="1" dirty="0" err="1"/>
              <a:t>ανα</a:t>
            </a:r>
            <a:r>
              <a:rPr lang="el-GR" b="1" dirty="0"/>
              <a:t> </a:t>
            </a:r>
            <a:r>
              <a:rPr lang="el-GR" b="1" dirty="0" err="1"/>
              <a:t>χωρα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1457" y="2809706"/>
            <a:ext cx="78275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Εφαρμόζουμε την ίδια μεθοδολογία σε επίπεδο χώρας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Σύγκριση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 profiles 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ανά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 </a:t>
            </a: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Στόχος: να δούμε αν αλλάζει η δομή δεξιοτήτων ανά χώρα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l-GR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π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ιο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ντ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αγωνιστικοί κλάδοι</a:t>
            </a:r>
            <a:r>
              <a:rPr kumimoji="0" lang="el-G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ατηρούν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πιο ισορροπημένα skill mixes</a:t>
            </a:r>
            <a:endParaRPr kumimoji="0" lang="el-G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λιγότερο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ντ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αγωνιστικο</a:t>
            </a:r>
            <a:r>
              <a:rPr lang="el-G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ί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εμφ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ανίζουν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στενότερους πυρήνες δεξιοτήτων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02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 err="1"/>
              <a:t>cONSULTING</a:t>
            </a:r>
            <a:r>
              <a:rPr lang="el-GR" b="1" dirty="0"/>
              <a:t> 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3007104"/>
            <a:ext cx="6462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Sweden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52.7% , Italy 43.2%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29.8% , USA 17.2%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Italy 6.9% , Germany 1.2%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UK 14.7%</a:t>
            </a:r>
            <a:r>
              <a:rPr lang="en-US" altLang="en-US" sz="1800" b="1" dirty="0">
                <a:latin typeface="Arial" panose="020B0604020202020204" pitchFamily="34" charset="0"/>
              </a:rPr>
              <a:t> , Italy 8.5%</a:t>
            </a:r>
          </a:p>
        </p:txBody>
      </p:sp>
    </p:spTree>
    <p:extLst>
      <p:ext uri="{BB962C8B-B14F-4D97-AF65-F5344CB8AC3E}">
        <p14:creationId xmlns:p14="http://schemas.microsoft.com/office/powerpoint/2010/main" val="4205216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Energy &amp; utilities </a:t>
            </a:r>
            <a:r>
              <a:rPr lang="el-GR" b="1" dirty="0"/>
              <a:t>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3007104"/>
            <a:ext cx="6462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Sweden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61.2% , Germany 31.5%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41.8% , France 14.5%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Italy 6.3% , Netherlands 4.4%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USA 11.2%</a:t>
            </a:r>
            <a:r>
              <a:rPr lang="en-US" altLang="en-US" sz="1800" b="1" dirty="0">
                <a:latin typeface="Arial" panose="020B0604020202020204" pitchFamily="34" charset="0"/>
              </a:rPr>
              <a:t> , Germany 5.5%</a:t>
            </a:r>
          </a:p>
        </p:txBody>
      </p:sp>
    </p:spTree>
    <p:extLst>
      <p:ext uri="{BB962C8B-B14F-4D97-AF65-F5344CB8AC3E}">
        <p14:creationId xmlns:p14="http://schemas.microsoft.com/office/powerpoint/2010/main" val="2597770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Finance </a:t>
            </a:r>
            <a:r>
              <a:rPr lang="el-GR" b="1" dirty="0"/>
              <a:t>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3007104"/>
            <a:ext cx="6462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Sweden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47.7% , France 33.1%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35.9% , Sweden 24.4%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Italy 5.1% , Germany 2.5%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France 14.3%</a:t>
            </a:r>
            <a:r>
              <a:rPr lang="en-US" altLang="en-US" sz="1800" b="1" dirty="0">
                <a:latin typeface="Arial" panose="020B0604020202020204" pitchFamily="34" charset="0"/>
              </a:rPr>
              <a:t> , USA 11.8%</a:t>
            </a:r>
          </a:p>
        </p:txBody>
      </p:sp>
    </p:spTree>
    <p:extLst>
      <p:ext uri="{BB962C8B-B14F-4D97-AF65-F5344CB8AC3E}">
        <p14:creationId xmlns:p14="http://schemas.microsoft.com/office/powerpoint/2010/main" val="2643816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HEALTHCARE </a:t>
            </a:r>
            <a:r>
              <a:rPr lang="el-GR" b="1" dirty="0"/>
              <a:t>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2868605"/>
            <a:ext cx="64629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Sweden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54.3% , Germany 39.7%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28.4% , UK 13.4%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Italy 9.2% , Sweden 4.2%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UK 15.1%</a:t>
            </a:r>
            <a:r>
              <a:rPr lang="en-US" altLang="en-US" sz="1800" b="1" dirty="0">
                <a:latin typeface="Arial" panose="020B0604020202020204" pitchFamily="34" charset="0"/>
              </a:rPr>
              <a:t> , Germany 7.6%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89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Law </a:t>
            </a:r>
            <a:r>
              <a:rPr lang="el-GR" b="1" dirty="0"/>
              <a:t>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2868605"/>
            <a:ext cx="64629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Sweden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50.0% , Germany 33.9%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31.8% , USA 12.9%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Germany 10.7% Italy 4.9%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</a:t>
            </a:r>
            <a:r>
              <a:rPr lang="en-US" altLang="en-US" sz="1800" b="1" dirty="0">
                <a:latin typeface="Arial" panose="020B0604020202020204" pitchFamily="34" charset="0"/>
              </a:rPr>
              <a:t>Sweden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17.3%</a:t>
            </a:r>
            <a:r>
              <a:rPr lang="en-US" altLang="en-US" sz="1800" b="1" dirty="0">
                <a:latin typeface="Arial" panose="020B0604020202020204" pitchFamily="34" charset="0"/>
              </a:rPr>
              <a:t> , USA 7.2%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478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TECHNOLOGY </a:t>
            </a:r>
            <a:r>
              <a:rPr lang="el-GR" b="1" dirty="0"/>
              <a:t>– </a:t>
            </a:r>
            <a:r>
              <a:rPr lang="en-US" b="1" dirty="0"/>
              <a:t>top 100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B5E054-AB32-4E74-A79C-F86C5594C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203" y="2868605"/>
            <a:ext cx="64629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Technical -&gt; USA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57.4% , France 39.7%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-&gt; Germany 32.2% , USA 13.2%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Legal -&gt; Italy 7.1% Sweden 3.2%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-&gt; </a:t>
            </a:r>
            <a:r>
              <a:rPr lang="en-US" altLang="en-US" sz="1800" b="1" dirty="0">
                <a:latin typeface="Arial" panose="020B0604020202020204" pitchFamily="34" charset="0"/>
              </a:rPr>
              <a:t>UK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14.4%</a:t>
            </a:r>
            <a:r>
              <a:rPr lang="en-US" altLang="en-US" sz="1800" b="1" dirty="0">
                <a:latin typeface="Arial" panose="020B0604020202020204" pitchFamily="34" charset="0"/>
              </a:rPr>
              <a:t> , USA 7.3%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412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Sector comparisons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F7131-E5B4-48E4-89C8-7438FA7E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24" y="2736011"/>
            <a:ext cx="9843877" cy="248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37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l-GR" b="1" dirty="0" err="1"/>
              <a:t>συμπερασματα</a:t>
            </a:r>
            <a:endParaRPr lang="en-US" b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A6ED2F-6A1B-4135-8DBE-8B52FEA8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F36358E-FB77-492C-AD74-C5D223EF2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3036457"/>
            <a:ext cx="102382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δομή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της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γοράς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εργ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ασίας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σχετίζεται συστηματικά με </a:t>
            </a:r>
            <a:r>
              <a:rPr lang="el-G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τα 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</a:t>
            </a:r>
            <a:r>
              <a:rPr lang="el-G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που ζητούνται</a:t>
            </a:r>
            <a:endParaRPr kumimoji="0" lang="el-G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π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ιο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ντ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αγωνιστικοί κλάδοι εμφανίζουν</a:t>
            </a:r>
            <a:r>
              <a:rPr lang="el-G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ιο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ισορρο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kumimoji="0" lang="el-G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μέν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 </a:t>
            </a:r>
            <a:r>
              <a:rPr lang="el-GR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και συνδυαστικά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 profiles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Οι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λιγότερο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ντ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αγωνιστικοί κλάδοι</a:t>
            </a:r>
            <a:r>
              <a:rPr lang="el-GR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βα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σίζοντ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αι σε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στενότερους, πιο μονοδιάστατους πυρήνες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δεξιοτήτων</a:t>
            </a:r>
            <a:endParaRPr kumimoji="0" lang="el-G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Top-100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ανα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δεικνύει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καθα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ρά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τον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υρήν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 προσλήψεων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l-G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216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44B-5EE0-49DA-A9AA-3D5A6CC7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1" y="764373"/>
            <a:ext cx="10000130" cy="1293028"/>
          </a:xfrm>
        </p:spPr>
        <p:txBody>
          <a:bodyPr/>
          <a:lstStyle/>
          <a:p>
            <a:pPr algn="ctr"/>
            <a:r>
              <a:rPr lang="en-US" b="1" dirty="0"/>
              <a:t>Future work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A6ED2F-6A1B-4135-8DBE-8B52FEA8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F36358E-FB77-492C-AD74-C5D223EF2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80" y="2525225"/>
            <a:ext cx="44057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Ανάλυση σε περισσότερα χρόνια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Structural vs temporary skills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Περισσότεροι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Περισσότερες χώρες </a:t>
            </a:r>
          </a:p>
        </p:txBody>
      </p:sp>
    </p:spTree>
    <p:extLst>
      <p:ext uri="{BB962C8B-B14F-4D97-AF65-F5344CB8AC3E}">
        <p14:creationId xmlns:p14="http://schemas.microsoft.com/office/powerpoint/2010/main" val="441999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2AA6ED2F-6A1B-4135-8DBE-8B52FEA8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D86A1-2832-44BE-82B5-C005B574CD9B}"/>
              </a:ext>
            </a:extLst>
          </p:cNvPr>
          <p:cNvSpPr txBox="1"/>
          <p:nvPr/>
        </p:nvSpPr>
        <p:spPr>
          <a:xfrm>
            <a:off x="2108370" y="2541495"/>
            <a:ext cx="797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ΕΥΧΑΡΙΣΤΩ ΓΙΑ ΤΟΝ ΧΡΟΝΟ ΣΑΣ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0C6F5-4FC9-4E7A-A2E1-FCC8AFDA8300}"/>
              </a:ext>
            </a:extLst>
          </p:cNvPr>
          <p:cNvSpPr txBox="1"/>
          <p:nvPr/>
        </p:nvSpPr>
        <p:spPr>
          <a:xfrm>
            <a:off x="4994462" y="3697942"/>
            <a:ext cx="2203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dirty="0"/>
              <a:t>ΕΡΩΤΗΣΕΙΣ</a:t>
            </a:r>
            <a:r>
              <a:rPr lang="en-US" sz="2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041290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2273</TotalTime>
  <Words>3209</Words>
  <Application>Microsoft Office PowerPoint</Application>
  <PresentationFormat>Widescreen</PresentationFormat>
  <Paragraphs>613</Paragraphs>
  <Slides>41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Century Gothic</vt:lpstr>
      <vt:lpstr>Times New Roman</vt:lpstr>
      <vt:lpstr>Vapor Trail</vt:lpstr>
      <vt:lpstr>Market Power and Labor Market Implications</vt:lpstr>
      <vt:lpstr>Κινητρο και Ερευνητικο Ερωτημα</vt:lpstr>
      <vt:lpstr>Συλλογη δεδομενων</vt:lpstr>
      <vt:lpstr>Προεπεξεργασια δεδομενων</vt:lpstr>
      <vt:lpstr>Δεδομενα </vt:lpstr>
      <vt:lpstr>ΕΞΑΓΩΓΗ ΔΕΞΙΟΤΗΤΩΝ</vt:lpstr>
      <vt:lpstr>ΟΜΑΔΟΠΟΙΗΣΗ ΔΕΞΙΟΤΗΤΩΝ</vt:lpstr>
      <vt:lpstr>ΤΡΟΠΟΙ ΑΝΑΛΥΣΗΣ</vt:lpstr>
      <vt:lpstr>ΤΡΟΠΟΙ ΑΝΑΛΥΣΗΣ</vt:lpstr>
      <vt:lpstr>ΔΕΙΚΤΕΣ</vt:lpstr>
      <vt:lpstr>ΔΕΙΚΤΕΣ ΑΓΟΡΑΣ ΕΡΓΑΣΙΑΣ</vt:lpstr>
      <vt:lpstr>ΔΕΙΚΤΕΣ ΑΓΟΡΑΣ ΕΡΓΑΣΙΑΣ</vt:lpstr>
      <vt:lpstr>ΔΕΙΚΤΕΣ ΔΕΞΙΟΤΗΤΩΝ</vt:lpstr>
      <vt:lpstr>ΔΕΙΚΤΕΣ ΔΕΞΙΟΤΗΤΩΝ</vt:lpstr>
      <vt:lpstr>ΚΑΝΟΝΙΚΟΠΟΙΗΣΗ ΔΕΙΚΤΩΝ</vt:lpstr>
      <vt:lpstr>SCORE ανταγωνιστικΟτητας</vt:lpstr>
      <vt:lpstr>Ζωνες Ανταγωνιστικοτητας</vt:lpstr>
      <vt:lpstr>Δεξιοτητεσ ανα κλαδο</vt:lpstr>
      <vt:lpstr>Εστιαση στον Πυρηνα Προσληψεων</vt:lpstr>
      <vt:lpstr>ENERGY &amp; UTILITIES</vt:lpstr>
      <vt:lpstr>healthcare &amp; pharma</vt:lpstr>
      <vt:lpstr>Consulting services</vt:lpstr>
      <vt:lpstr>Law &amp; legal</vt:lpstr>
      <vt:lpstr>FINANCE</vt:lpstr>
      <vt:lpstr>TECHNOLOGY</vt:lpstr>
      <vt:lpstr>Στατιστικη Επικυρωση</vt:lpstr>
      <vt:lpstr>Στατιστικη Επικυρωση</vt:lpstr>
      <vt:lpstr>Στατιστικη Επικυρωση</vt:lpstr>
      <vt:lpstr>Στατιστικη Επικυρωση</vt:lpstr>
      <vt:lpstr>Στατιστικη Επικυρωση</vt:lpstr>
      <vt:lpstr>Αναλυση ανα χωρα</vt:lpstr>
      <vt:lpstr>cONSULTING – top 100</vt:lpstr>
      <vt:lpstr>Energy &amp; utilities – top 100</vt:lpstr>
      <vt:lpstr>Finance – top 100</vt:lpstr>
      <vt:lpstr>HEALTHCARE – top 100</vt:lpstr>
      <vt:lpstr>Law – top 100</vt:lpstr>
      <vt:lpstr>TECHNOLOGY – top 100</vt:lpstr>
      <vt:lpstr>Sector comparisons</vt:lpstr>
      <vt:lpstr>συμπερασματα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Power and Labor Market Implications</dc:title>
  <dc:creator>Stylianos Georgilas</dc:creator>
  <cp:lastModifiedBy>Stylianos Georgilas</cp:lastModifiedBy>
  <cp:revision>100</cp:revision>
  <dcterms:created xsi:type="dcterms:W3CDTF">2026-02-09T17:43:41Z</dcterms:created>
  <dcterms:modified xsi:type="dcterms:W3CDTF">2026-06-15T14:57:59Z</dcterms:modified>
</cp:coreProperties>
</file>